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39"/>
  </p:notesMasterIdLst>
  <p:sldIdLst>
    <p:sldId id="256" r:id="rId2"/>
    <p:sldId id="272" r:id="rId3"/>
    <p:sldId id="257" r:id="rId4"/>
    <p:sldId id="269" r:id="rId5"/>
    <p:sldId id="258" r:id="rId6"/>
    <p:sldId id="268" r:id="rId7"/>
    <p:sldId id="259" r:id="rId8"/>
    <p:sldId id="260" r:id="rId9"/>
    <p:sldId id="271" r:id="rId10"/>
    <p:sldId id="270" r:id="rId11"/>
    <p:sldId id="261" r:id="rId12"/>
    <p:sldId id="262" r:id="rId13"/>
    <p:sldId id="273" r:id="rId14"/>
    <p:sldId id="263" r:id="rId15"/>
    <p:sldId id="274" r:id="rId16"/>
    <p:sldId id="265" r:id="rId17"/>
    <p:sldId id="275" r:id="rId18"/>
    <p:sldId id="281" r:id="rId19"/>
    <p:sldId id="276" r:id="rId20"/>
    <p:sldId id="277" r:id="rId21"/>
    <p:sldId id="278" r:id="rId22"/>
    <p:sldId id="280" r:id="rId23"/>
    <p:sldId id="279" r:id="rId24"/>
    <p:sldId id="284" r:id="rId25"/>
    <p:sldId id="286" r:id="rId26"/>
    <p:sldId id="287" r:id="rId27"/>
    <p:sldId id="288" r:id="rId28"/>
    <p:sldId id="282" r:id="rId29"/>
    <p:sldId id="289" r:id="rId30"/>
    <p:sldId id="283" r:id="rId31"/>
    <p:sldId id="266" r:id="rId32"/>
    <p:sldId id="267" r:id="rId33"/>
    <p:sldId id="285" r:id="rId34"/>
    <p:sldId id="292" r:id="rId35"/>
    <p:sldId id="290" r:id="rId36"/>
    <p:sldId id="291" r:id="rId37"/>
    <p:sldId id="293" r:id="rId38"/>
  </p:sldIdLst>
  <p:sldSz cx="9144000" cy="5143500" type="screen16x9"/>
  <p:notesSz cx="6858000" cy="9144000"/>
  <p:embeddedFontLst>
    <p:embeddedFont>
      <p:font typeface="Georgia" panose="02040502050405020303" pitchFamily="18" charset="0"/>
      <p:regular r:id="rId40"/>
      <p:bold r:id="rId41"/>
      <p:italic r:id="rId42"/>
      <p:boldItalic r:id="rId43"/>
    </p:embeddedFont>
    <p:embeddedFont>
      <p:font typeface="Inter" panose="020B0604020202020204"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82" autoAdjust="0"/>
    <p:restoredTop sz="94660"/>
  </p:normalViewPr>
  <p:slideViewPr>
    <p:cSldViewPr snapToGrid="0">
      <p:cViewPr varScale="1">
        <p:scale>
          <a:sx n="71" d="100"/>
          <a:sy n="71" d="100"/>
        </p:scale>
        <p:origin x="53" y="581"/>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3.fntdata"/><Relationship Id="rId47" Type="http://schemas.openxmlformats.org/officeDocument/2006/relationships/font" Target="fonts/font8.fnt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1.fntdata"/><Relationship Id="rId45"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4.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7.fntdata"/><Relationship Id="rId20" Type="http://schemas.openxmlformats.org/officeDocument/2006/relationships/slide" Target="slides/slide19.xml"/><Relationship Id="rId41"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c88c1e2a10_0_2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c88c1e2a10_0_2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2ca4317f978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2ca4317f978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a:extLst>
            <a:ext uri="{FF2B5EF4-FFF2-40B4-BE49-F238E27FC236}">
              <a16:creationId xmlns:a16="http://schemas.microsoft.com/office/drawing/2014/main" id="{E1B593C2-818B-24D8-7A20-6DE11F6E1ABC}"/>
            </a:ext>
          </a:extLst>
        </p:cNvPr>
        <p:cNvGrpSpPr/>
        <p:nvPr/>
      </p:nvGrpSpPr>
      <p:grpSpPr>
        <a:xfrm>
          <a:off x="0" y="0"/>
          <a:ext cx="0" cy="0"/>
          <a:chOff x="0" y="0"/>
          <a:chExt cx="0" cy="0"/>
        </a:xfrm>
      </p:grpSpPr>
      <p:sp>
        <p:nvSpPr>
          <p:cNvPr id="62" name="Google Shape;62;g2ca4317f978_0_5:notes">
            <a:extLst>
              <a:ext uri="{FF2B5EF4-FFF2-40B4-BE49-F238E27FC236}">
                <a16:creationId xmlns:a16="http://schemas.microsoft.com/office/drawing/2014/main" id="{EF8DB9A6-32D1-B314-F8D5-E589A977F4E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2ca4317f978_0_5:notes">
            <a:extLst>
              <a:ext uri="{FF2B5EF4-FFF2-40B4-BE49-F238E27FC236}">
                <a16:creationId xmlns:a16="http://schemas.microsoft.com/office/drawing/2014/main" id="{0B736993-D083-8AFD-4C96-61B37F3E760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47204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2ca985fedd0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ca985fedd0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F35C8F04-1E11-CCA2-BF03-81A5D73F2220}"/>
            </a:ext>
          </a:extLst>
        </p:cNvPr>
        <p:cNvGrpSpPr/>
        <p:nvPr/>
      </p:nvGrpSpPr>
      <p:grpSpPr>
        <a:xfrm>
          <a:off x="0" y="0"/>
          <a:ext cx="0" cy="0"/>
          <a:chOff x="0" y="0"/>
          <a:chExt cx="0" cy="0"/>
        </a:xfrm>
      </p:grpSpPr>
      <p:sp>
        <p:nvSpPr>
          <p:cNvPr id="69" name="Google Shape;69;g2ca985fedd0_0_21:notes">
            <a:extLst>
              <a:ext uri="{FF2B5EF4-FFF2-40B4-BE49-F238E27FC236}">
                <a16:creationId xmlns:a16="http://schemas.microsoft.com/office/drawing/2014/main" id="{3FB912A8-D9C9-0A1B-81BF-0FFEA665035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ca985fedd0_0_21:notes">
            <a:extLst>
              <a:ext uri="{FF2B5EF4-FFF2-40B4-BE49-F238E27FC236}">
                <a16:creationId xmlns:a16="http://schemas.microsoft.com/office/drawing/2014/main" id="{E4DB144E-F859-B969-CF14-C31305204AC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461988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2ca4317f978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2ca4317f978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2ca985fedd0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2ca985fedd0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E418B72D-B48B-2EFB-1BF0-93EC8ABEE257}"/>
            </a:ext>
          </a:extLst>
        </p:cNvPr>
        <p:cNvGrpSpPr/>
        <p:nvPr/>
      </p:nvGrpSpPr>
      <p:grpSpPr>
        <a:xfrm>
          <a:off x="0" y="0"/>
          <a:ext cx="0" cy="0"/>
          <a:chOff x="0" y="0"/>
          <a:chExt cx="0" cy="0"/>
        </a:xfrm>
      </p:grpSpPr>
      <p:sp>
        <p:nvSpPr>
          <p:cNvPr id="83" name="Google Shape;83;g2ca985fedd0_0_8:notes">
            <a:extLst>
              <a:ext uri="{FF2B5EF4-FFF2-40B4-BE49-F238E27FC236}">
                <a16:creationId xmlns:a16="http://schemas.microsoft.com/office/drawing/2014/main" id="{525248EC-94C7-B34D-59F5-11ECD5DA57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2ca985fedd0_0_8:notes">
            <a:extLst>
              <a:ext uri="{FF2B5EF4-FFF2-40B4-BE49-F238E27FC236}">
                <a16:creationId xmlns:a16="http://schemas.microsoft.com/office/drawing/2014/main" id="{B0D435E6-92EB-CF1D-E859-EE33111E7CF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403352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a:extLst>
            <a:ext uri="{FF2B5EF4-FFF2-40B4-BE49-F238E27FC236}">
              <a16:creationId xmlns:a16="http://schemas.microsoft.com/office/drawing/2014/main" id="{04672A80-5EFC-AC8A-6AE2-5DF5EB3A3346}"/>
            </a:ext>
          </a:extLst>
        </p:cNvPr>
        <p:cNvGrpSpPr/>
        <p:nvPr/>
      </p:nvGrpSpPr>
      <p:grpSpPr>
        <a:xfrm>
          <a:off x="0" y="0"/>
          <a:ext cx="0" cy="0"/>
          <a:chOff x="0" y="0"/>
          <a:chExt cx="0" cy="0"/>
        </a:xfrm>
      </p:grpSpPr>
      <p:sp>
        <p:nvSpPr>
          <p:cNvPr id="83" name="Google Shape;83;g2ca985fedd0_0_8:notes">
            <a:extLst>
              <a:ext uri="{FF2B5EF4-FFF2-40B4-BE49-F238E27FC236}">
                <a16:creationId xmlns:a16="http://schemas.microsoft.com/office/drawing/2014/main" id="{7977D7B4-35BD-C83D-8818-3D75E6D649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2ca985fedd0_0_8:notes">
            <a:extLst>
              <a:ext uri="{FF2B5EF4-FFF2-40B4-BE49-F238E27FC236}">
                <a16:creationId xmlns:a16="http://schemas.microsoft.com/office/drawing/2014/main" id="{39A71CE7-0329-6349-4C2A-3B78E349805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236302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2ca4317f978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2ca4317f978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2ca4317f978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a4317f978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EA8E7778-1DA2-E0A4-9131-55FBB973ADBF}"/>
            </a:ext>
          </a:extLst>
        </p:cNvPr>
        <p:cNvGrpSpPr/>
        <p:nvPr/>
      </p:nvGrpSpPr>
      <p:grpSpPr>
        <a:xfrm>
          <a:off x="0" y="0"/>
          <a:ext cx="0" cy="0"/>
          <a:chOff x="0" y="0"/>
          <a:chExt cx="0" cy="0"/>
        </a:xfrm>
      </p:grpSpPr>
      <p:sp>
        <p:nvSpPr>
          <p:cNvPr id="97" name="Google Shape;97;g2ca4317f978_0_52:notes">
            <a:extLst>
              <a:ext uri="{FF2B5EF4-FFF2-40B4-BE49-F238E27FC236}">
                <a16:creationId xmlns:a16="http://schemas.microsoft.com/office/drawing/2014/main" id="{3165374F-4307-73E2-CF2A-93226BF6A61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a4317f978_0_52:notes">
            <a:extLst>
              <a:ext uri="{FF2B5EF4-FFF2-40B4-BE49-F238E27FC236}">
                <a16:creationId xmlns:a16="http://schemas.microsoft.com/office/drawing/2014/main" id="{BBED3313-BC2B-2036-97C2-5DD349002ED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701639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2ca4317f978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2ca4317f978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581B5701-F609-D820-A0E0-B25E537C96AE}"/>
            </a:ext>
          </a:extLst>
        </p:cNvPr>
        <p:cNvGrpSpPr/>
        <p:nvPr/>
      </p:nvGrpSpPr>
      <p:grpSpPr>
        <a:xfrm>
          <a:off x="0" y="0"/>
          <a:ext cx="0" cy="0"/>
          <a:chOff x="0" y="0"/>
          <a:chExt cx="0" cy="0"/>
        </a:xfrm>
      </p:grpSpPr>
      <p:sp>
        <p:nvSpPr>
          <p:cNvPr id="105" name="Google Shape;105;g2ca4317f978_0_32:notes">
            <a:extLst>
              <a:ext uri="{FF2B5EF4-FFF2-40B4-BE49-F238E27FC236}">
                <a16:creationId xmlns:a16="http://schemas.microsoft.com/office/drawing/2014/main" id="{D1BA8800-2051-D9E5-42FB-47BBEBAD233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2ca4317f978_0_32:notes">
            <a:extLst>
              <a:ext uri="{FF2B5EF4-FFF2-40B4-BE49-F238E27FC236}">
                <a16:creationId xmlns:a16="http://schemas.microsoft.com/office/drawing/2014/main" id="{1C764D8D-3018-7983-B017-B18251EBF63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405138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2ca4317f978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2ca4317f978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a:extLst>
            <a:ext uri="{FF2B5EF4-FFF2-40B4-BE49-F238E27FC236}">
              <a16:creationId xmlns:a16="http://schemas.microsoft.com/office/drawing/2014/main" id="{87C46C4A-4BE4-7D80-8CB0-45F4AEB6D260}"/>
            </a:ext>
          </a:extLst>
        </p:cNvPr>
        <p:cNvGrpSpPr/>
        <p:nvPr/>
      </p:nvGrpSpPr>
      <p:grpSpPr>
        <a:xfrm>
          <a:off x="0" y="0"/>
          <a:ext cx="0" cy="0"/>
          <a:chOff x="0" y="0"/>
          <a:chExt cx="0" cy="0"/>
        </a:xfrm>
      </p:grpSpPr>
      <p:sp>
        <p:nvSpPr>
          <p:cNvPr id="121" name="Google Shape;121;g2ca4317f978_0_38:notes">
            <a:extLst>
              <a:ext uri="{FF2B5EF4-FFF2-40B4-BE49-F238E27FC236}">
                <a16:creationId xmlns:a16="http://schemas.microsoft.com/office/drawing/2014/main" id="{CC369A64-9EE1-E31B-7B3E-302F7EF783C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2ca4317f978_0_38:notes">
            <a:extLst>
              <a:ext uri="{FF2B5EF4-FFF2-40B4-BE49-F238E27FC236}">
                <a16:creationId xmlns:a16="http://schemas.microsoft.com/office/drawing/2014/main" id="{50882AA8-F0EE-BE5E-9328-FD2EE084934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520762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a:extLst>
            <a:ext uri="{FF2B5EF4-FFF2-40B4-BE49-F238E27FC236}">
              <a16:creationId xmlns:a16="http://schemas.microsoft.com/office/drawing/2014/main" id="{E4E995B7-293B-B739-E9ED-B63F9F0E6F09}"/>
            </a:ext>
          </a:extLst>
        </p:cNvPr>
        <p:cNvGrpSpPr/>
        <p:nvPr/>
      </p:nvGrpSpPr>
      <p:grpSpPr>
        <a:xfrm>
          <a:off x="0" y="0"/>
          <a:ext cx="0" cy="0"/>
          <a:chOff x="0" y="0"/>
          <a:chExt cx="0" cy="0"/>
        </a:xfrm>
      </p:grpSpPr>
      <p:sp>
        <p:nvSpPr>
          <p:cNvPr id="121" name="Google Shape;121;g2ca4317f978_0_38:notes">
            <a:extLst>
              <a:ext uri="{FF2B5EF4-FFF2-40B4-BE49-F238E27FC236}">
                <a16:creationId xmlns:a16="http://schemas.microsoft.com/office/drawing/2014/main" id="{C0F15A51-4F91-5019-CECC-423CED923A3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2ca4317f978_0_38:notes">
            <a:extLst>
              <a:ext uri="{FF2B5EF4-FFF2-40B4-BE49-F238E27FC236}">
                <a16:creationId xmlns:a16="http://schemas.microsoft.com/office/drawing/2014/main" id="{2D139005-DA54-3CF0-EF94-174D215BD91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589182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a:extLst>
            <a:ext uri="{FF2B5EF4-FFF2-40B4-BE49-F238E27FC236}">
              <a16:creationId xmlns:a16="http://schemas.microsoft.com/office/drawing/2014/main" id="{D970E1C4-1357-27A9-545D-9B976C4EE265}"/>
            </a:ext>
          </a:extLst>
        </p:cNvPr>
        <p:cNvGrpSpPr/>
        <p:nvPr/>
      </p:nvGrpSpPr>
      <p:grpSpPr>
        <a:xfrm>
          <a:off x="0" y="0"/>
          <a:ext cx="0" cy="0"/>
          <a:chOff x="0" y="0"/>
          <a:chExt cx="0" cy="0"/>
        </a:xfrm>
      </p:grpSpPr>
      <p:sp>
        <p:nvSpPr>
          <p:cNvPr id="121" name="Google Shape;121;g2ca4317f978_0_38:notes">
            <a:extLst>
              <a:ext uri="{FF2B5EF4-FFF2-40B4-BE49-F238E27FC236}">
                <a16:creationId xmlns:a16="http://schemas.microsoft.com/office/drawing/2014/main" id="{D78E57CD-5BDA-05F1-A786-CE8BBB1429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2ca4317f978_0_38:notes">
            <a:extLst>
              <a:ext uri="{FF2B5EF4-FFF2-40B4-BE49-F238E27FC236}">
                <a16:creationId xmlns:a16="http://schemas.microsoft.com/office/drawing/2014/main" id="{2D087DED-29C4-18B7-492B-042BCDD1546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251043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a:extLst>
            <a:ext uri="{FF2B5EF4-FFF2-40B4-BE49-F238E27FC236}">
              <a16:creationId xmlns:a16="http://schemas.microsoft.com/office/drawing/2014/main" id="{C190C906-9B09-1111-F9EB-57002664F39D}"/>
            </a:ext>
          </a:extLst>
        </p:cNvPr>
        <p:cNvGrpSpPr/>
        <p:nvPr/>
      </p:nvGrpSpPr>
      <p:grpSpPr>
        <a:xfrm>
          <a:off x="0" y="0"/>
          <a:ext cx="0" cy="0"/>
          <a:chOff x="0" y="0"/>
          <a:chExt cx="0" cy="0"/>
        </a:xfrm>
      </p:grpSpPr>
      <p:sp>
        <p:nvSpPr>
          <p:cNvPr id="121" name="Google Shape;121;g2ca4317f978_0_38:notes">
            <a:extLst>
              <a:ext uri="{FF2B5EF4-FFF2-40B4-BE49-F238E27FC236}">
                <a16:creationId xmlns:a16="http://schemas.microsoft.com/office/drawing/2014/main" id="{63C16CC6-F26C-7593-F8D3-33C4987049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2ca4317f978_0_38:notes">
            <a:extLst>
              <a:ext uri="{FF2B5EF4-FFF2-40B4-BE49-F238E27FC236}">
                <a16:creationId xmlns:a16="http://schemas.microsoft.com/office/drawing/2014/main" id="{B8225C60-1A5B-72E5-93B6-2A88660B6C7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042984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a:extLst>
            <a:ext uri="{FF2B5EF4-FFF2-40B4-BE49-F238E27FC236}">
              <a16:creationId xmlns:a16="http://schemas.microsoft.com/office/drawing/2014/main" id="{DBBC8D2F-A087-9D09-89AE-60384BB884A9}"/>
            </a:ext>
          </a:extLst>
        </p:cNvPr>
        <p:cNvGrpSpPr/>
        <p:nvPr/>
      </p:nvGrpSpPr>
      <p:grpSpPr>
        <a:xfrm>
          <a:off x="0" y="0"/>
          <a:ext cx="0" cy="0"/>
          <a:chOff x="0" y="0"/>
          <a:chExt cx="0" cy="0"/>
        </a:xfrm>
      </p:grpSpPr>
      <p:sp>
        <p:nvSpPr>
          <p:cNvPr id="121" name="Google Shape;121;g2ca4317f978_0_38:notes">
            <a:extLst>
              <a:ext uri="{FF2B5EF4-FFF2-40B4-BE49-F238E27FC236}">
                <a16:creationId xmlns:a16="http://schemas.microsoft.com/office/drawing/2014/main" id="{0B234010-E92A-6094-A818-9632A34070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2ca4317f978_0_38:notes">
            <a:extLst>
              <a:ext uri="{FF2B5EF4-FFF2-40B4-BE49-F238E27FC236}">
                <a16:creationId xmlns:a16="http://schemas.microsoft.com/office/drawing/2014/main" id="{61CBF063-C8DF-E606-9724-17CFBE2D42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423609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a:extLst>
            <a:ext uri="{FF2B5EF4-FFF2-40B4-BE49-F238E27FC236}">
              <a16:creationId xmlns:a16="http://schemas.microsoft.com/office/drawing/2014/main" id="{984B1639-7D0D-9EB8-5635-4125E20CC076}"/>
            </a:ext>
          </a:extLst>
        </p:cNvPr>
        <p:cNvGrpSpPr/>
        <p:nvPr/>
      </p:nvGrpSpPr>
      <p:grpSpPr>
        <a:xfrm>
          <a:off x="0" y="0"/>
          <a:ext cx="0" cy="0"/>
          <a:chOff x="0" y="0"/>
          <a:chExt cx="0" cy="0"/>
        </a:xfrm>
      </p:grpSpPr>
      <p:sp>
        <p:nvSpPr>
          <p:cNvPr id="128" name="Google Shape;128;g2ca4317f978_0_21:notes">
            <a:extLst>
              <a:ext uri="{FF2B5EF4-FFF2-40B4-BE49-F238E27FC236}">
                <a16:creationId xmlns:a16="http://schemas.microsoft.com/office/drawing/2014/main" id="{114EF8F5-D99C-CF8C-99F7-11BAA85851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2ca4317f978_0_21:notes">
            <a:extLst>
              <a:ext uri="{FF2B5EF4-FFF2-40B4-BE49-F238E27FC236}">
                <a16:creationId xmlns:a16="http://schemas.microsoft.com/office/drawing/2014/main" id="{06D54A33-80A0-A0F7-AE8A-5B2F101BE01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729836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a:extLst>
            <a:ext uri="{FF2B5EF4-FFF2-40B4-BE49-F238E27FC236}">
              <a16:creationId xmlns:a16="http://schemas.microsoft.com/office/drawing/2014/main" id="{628CE1B4-D1FF-513C-80C0-10070F167B1C}"/>
            </a:ext>
          </a:extLst>
        </p:cNvPr>
        <p:cNvGrpSpPr/>
        <p:nvPr/>
      </p:nvGrpSpPr>
      <p:grpSpPr>
        <a:xfrm>
          <a:off x="0" y="0"/>
          <a:ext cx="0" cy="0"/>
          <a:chOff x="0" y="0"/>
          <a:chExt cx="0" cy="0"/>
        </a:xfrm>
      </p:grpSpPr>
      <p:sp>
        <p:nvSpPr>
          <p:cNvPr id="128" name="Google Shape;128;g2ca4317f978_0_21:notes">
            <a:extLst>
              <a:ext uri="{FF2B5EF4-FFF2-40B4-BE49-F238E27FC236}">
                <a16:creationId xmlns:a16="http://schemas.microsoft.com/office/drawing/2014/main" id="{C15C5722-4C9B-52F8-A26F-3ED4698C778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2ca4317f978_0_21:notes">
            <a:extLst>
              <a:ext uri="{FF2B5EF4-FFF2-40B4-BE49-F238E27FC236}">
                <a16:creationId xmlns:a16="http://schemas.microsoft.com/office/drawing/2014/main" id="{DE65EC13-C180-1E84-A6F2-93228482BA2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396035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a:extLst>
            <a:ext uri="{FF2B5EF4-FFF2-40B4-BE49-F238E27FC236}">
              <a16:creationId xmlns:a16="http://schemas.microsoft.com/office/drawing/2014/main" id="{61EAA29F-ACA0-BA6B-FD95-544CB666E5D0}"/>
            </a:ext>
          </a:extLst>
        </p:cNvPr>
        <p:cNvGrpSpPr/>
        <p:nvPr/>
      </p:nvGrpSpPr>
      <p:grpSpPr>
        <a:xfrm>
          <a:off x="0" y="0"/>
          <a:ext cx="0" cy="0"/>
          <a:chOff x="0" y="0"/>
          <a:chExt cx="0" cy="0"/>
        </a:xfrm>
      </p:grpSpPr>
      <p:sp>
        <p:nvSpPr>
          <p:cNvPr id="128" name="Google Shape;128;g2ca4317f978_0_21:notes">
            <a:extLst>
              <a:ext uri="{FF2B5EF4-FFF2-40B4-BE49-F238E27FC236}">
                <a16:creationId xmlns:a16="http://schemas.microsoft.com/office/drawing/2014/main" id="{5A7BC9E8-E219-6C04-8044-42551716B0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2ca4317f978_0_21:notes">
            <a:extLst>
              <a:ext uri="{FF2B5EF4-FFF2-40B4-BE49-F238E27FC236}">
                <a16:creationId xmlns:a16="http://schemas.microsoft.com/office/drawing/2014/main" id="{A43F87D1-0868-8439-12F7-E4820476B9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960650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2ca4317f978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2ca4317f978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2ca4317f978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2ca4317f978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B26C6E1D-5F25-F47C-F2AE-8041A1154A7E}"/>
            </a:ext>
          </a:extLst>
        </p:cNvPr>
        <p:cNvGrpSpPr/>
        <p:nvPr/>
      </p:nvGrpSpPr>
      <p:grpSpPr>
        <a:xfrm>
          <a:off x="0" y="0"/>
          <a:ext cx="0" cy="0"/>
          <a:chOff x="0" y="0"/>
          <a:chExt cx="0" cy="0"/>
        </a:xfrm>
      </p:grpSpPr>
      <p:sp>
        <p:nvSpPr>
          <p:cNvPr id="135" name="Google Shape;135;g2ca4317f978_0_26:notes">
            <a:extLst>
              <a:ext uri="{FF2B5EF4-FFF2-40B4-BE49-F238E27FC236}">
                <a16:creationId xmlns:a16="http://schemas.microsoft.com/office/drawing/2014/main" id="{402EE9CE-080B-5E66-2656-61A7C977773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2ca4317f978_0_26:notes">
            <a:extLst>
              <a:ext uri="{FF2B5EF4-FFF2-40B4-BE49-F238E27FC236}">
                <a16:creationId xmlns:a16="http://schemas.microsoft.com/office/drawing/2014/main" id="{7226F2D0-0014-5EE4-13F0-9B6D48B4052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996930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BD44395E-FF47-5CE6-CADB-3FEDAEC2D571}"/>
            </a:ext>
          </a:extLst>
        </p:cNvPr>
        <p:cNvGrpSpPr/>
        <p:nvPr/>
      </p:nvGrpSpPr>
      <p:grpSpPr>
        <a:xfrm>
          <a:off x="0" y="0"/>
          <a:ext cx="0" cy="0"/>
          <a:chOff x="0" y="0"/>
          <a:chExt cx="0" cy="0"/>
        </a:xfrm>
      </p:grpSpPr>
      <p:sp>
        <p:nvSpPr>
          <p:cNvPr id="135" name="Google Shape;135;g2ca4317f978_0_26:notes">
            <a:extLst>
              <a:ext uri="{FF2B5EF4-FFF2-40B4-BE49-F238E27FC236}">
                <a16:creationId xmlns:a16="http://schemas.microsoft.com/office/drawing/2014/main" id="{61A7B304-5D71-CAE8-2A78-EBAEDE03BB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2ca4317f978_0_26:notes">
            <a:extLst>
              <a:ext uri="{FF2B5EF4-FFF2-40B4-BE49-F238E27FC236}">
                <a16:creationId xmlns:a16="http://schemas.microsoft.com/office/drawing/2014/main" id="{3E3AFC6E-78AA-D83C-30B7-4CB69CED991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920461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93EA7028-A47C-F719-71A1-312F70C3C0AD}"/>
            </a:ext>
          </a:extLst>
        </p:cNvPr>
        <p:cNvGrpSpPr/>
        <p:nvPr/>
      </p:nvGrpSpPr>
      <p:grpSpPr>
        <a:xfrm>
          <a:off x="0" y="0"/>
          <a:ext cx="0" cy="0"/>
          <a:chOff x="0" y="0"/>
          <a:chExt cx="0" cy="0"/>
        </a:xfrm>
      </p:grpSpPr>
      <p:sp>
        <p:nvSpPr>
          <p:cNvPr id="135" name="Google Shape;135;g2ca4317f978_0_26:notes">
            <a:extLst>
              <a:ext uri="{FF2B5EF4-FFF2-40B4-BE49-F238E27FC236}">
                <a16:creationId xmlns:a16="http://schemas.microsoft.com/office/drawing/2014/main" id="{A2C8612B-B5FA-C4D2-6DD2-44168CB783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2ca4317f978_0_26:notes">
            <a:extLst>
              <a:ext uri="{FF2B5EF4-FFF2-40B4-BE49-F238E27FC236}">
                <a16:creationId xmlns:a16="http://schemas.microsoft.com/office/drawing/2014/main" id="{39B161AA-67A5-4F8A-01D2-EDE768D8503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613682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C2E8F189-36A1-4BA8-D320-0C054637FB4B}"/>
            </a:ext>
          </a:extLst>
        </p:cNvPr>
        <p:cNvGrpSpPr/>
        <p:nvPr/>
      </p:nvGrpSpPr>
      <p:grpSpPr>
        <a:xfrm>
          <a:off x="0" y="0"/>
          <a:ext cx="0" cy="0"/>
          <a:chOff x="0" y="0"/>
          <a:chExt cx="0" cy="0"/>
        </a:xfrm>
      </p:grpSpPr>
      <p:sp>
        <p:nvSpPr>
          <p:cNvPr id="135" name="Google Shape;135;g2ca4317f978_0_26:notes">
            <a:extLst>
              <a:ext uri="{FF2B5EF4-FFF2-40B4-BE49-F238E27FC236}">
                <a16:creationId xmlns:a16="http://schemas.microsoft.com/office/drawing/2014/main" id="{C2AA37A7-9EE6-A217-48B3-5D7DB0251C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2ca4317f978_0_26:notes">
            <a:extLst>
              <a:ext uri="{FF2B5EF4-FFF2-40B4-BE49-F238E27FC236}">
                <a16:creationId xmlns:a16="http://schemas.microsoft.com/office/drawing/2014/main" id="{52CC2FCB-5BC4-99C2-4EDC-431EB94CEB5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6679276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859BB63D-7EB1-F457-167B-BBF622BA15A7}"/>
            </a:ext>
          </a:extLst>
        </p:cNvPr>
        <p:cNvGrpSpPr/>
        <p:nvPr/>
      </p:nvGrpSpPr>
      <p:grpSpPr>
        <a:xfrm>
          <a:off x="0" y="0"/>
          <a:ext cx="0" cy="0"/>
          <a:chOff x="0" y="0"/>
          <a:chExt cx="0" cy="0"/>
        </a:xfrm>
      </p:grpSpPr>
      <p:sp>
        <p:nvSpPr>
          <p:cNvPr id="135" name="Google Shape;135;g2ca4317f978_0_26:notes">
            <a:extLst>
              <a:ext uri="{FF2B5EF4-FFF2-40B4-BE49-F238E27FC236}">
                <a16:creationId xmlns:a16="http://schemas.microsoft.com/office/drawing/2014/main" id="{5F1E3114-258D-379A-2697-406840DF45B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2ca4317f978_0_26:notes">
            <a:extLst>
              <a:ext uri="{FF2B5EF4-FFF2-40B4-BE49-F238E27FC236}">
                <a16:creationId xmlns:a16="http://schemas.microsoft.com/office/drawing/2014/main" id="{7DD84E0B-7144-F0A1-277D-986F79ECE3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534749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hesis" type="title">
  <p:cSld name="TITLE">
    <p:bg>
      <p:bgPr>
        <a:solidFill>
          <a:srgbClr val="1C4587"/>
        </a:solidFill>
        <a:effectLst/>
      </p:bgPr>
    </p:bg>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rtl="0">
              <a:spcBef>
                <a:spcPts val="0"/>
              </a:spcBef>
              <a:spcAft>
                <a:spcPts val="0"/>
              </a:spcAft>
              <a:buClr>
                <a:schemeClr val="lt1"/>
              </a:buClr>
              <a:buSzPts val="5000"/>
              <a:buNone/>
              <a:defRPr sz="5000" b="1">
                <a:solidFill>
                  <a:schemeClr val="lt1"/>
                </a:solidFill>
              </a:defRPr>
            </a:lvl1pPr>
            <a:lvl2pPr lvl="1" algn="ctr" rtl="0">
              <a:spcBef>
                <a:spcPts val="0"/>
              </a:spcBef>
              <a:spcAft>
                <a:spcPts val="0"/>
              </a:spcAft>
              <a:buSzPts val="5200"/>
              <a:buNone/>
              <a:defRPr sz="5200" b="1"/>
            </a:lvl2pPr>
            <a:lvl3pPr lvl="2" algn="ctr" rtl="0">
              <a:spcBef>
                <a:spcPts val="0"/>
              </a:spcBef>
              <a:spcAft>
                <a:spcPts val="0"/>
              </a:spcAft>
              <a:buSzPts val="5200"/>
              <a:buNone/>
              <a:defRPr sz="5200" b="1"/>
            </a:lvl3pPr>
            <a:lvl4pPr lvl="3" algn="ctr" rtl="0">
              <a:spcBef>
                <a:spcPts val="0"/>
              </a:spcBef>
              <a:spcAft>
                <a:spcPts val="0"/>
              </a:spcAft>
              <a:buSzPts val="5200"/>
              <a:buNone/>
              <a:defRPr sz="5200" b="1"/>
            </a:lvl4pPr>
            <a:lvl5pPr lvl="4" algn="ctr" rtl="0">
              <a:spcBef>
                <a:spcPts val="0"/>
              </a:spcBef>
              <a:spcAft>
                <a:spcPts val="0"/>
              </a:spcAft>
              <a:buSzPts val="5200"/>
              <a:buNone/>
              <a:defRPr sz="5200" b="1"/>
            </a:lvl5pPr>
            <a:lvl6pPr lvl="5" algn="ctr" rtl="0">
              <a:spcBef>
                <a:spcPts val="0"/>
              </a:spcBef>
              <a:spcAft>
                <a:spcPts val="0"/>
              </a:spcAft>
              <a:buSzPts val="5200"/>
              <a:buNone/>
              <a:defRPr sz="5200" b="1"/>
            </a:lvl6pPr>
            <a:lvl7pPr lvl="6" algn="ctr" rtl="0">
              <a:spcBef>
                <a:spcPts val="0"/>
              </a:spcBef>
              <a:spcAft>
                <a:spcPts val="0"/>
              </a:spcAft>
              <a:buSzPts val="5200"/>
              <a:buNone/>
              <a:defRPr sz="5200" b="1"/>
            </a:lvl7pPr>
            <a:lvl8pPr lvl="7" algn="ctr" rtl="0">
              <a:spcBef>
                <a:spcPts val="0"/>
              </a:spcBef>
              <a:spcAft>
                <a:spcPts val="0"/>
              </a:spcAft>
              <a:buSzPts val="5200"/>
              <a:buNone/>
              <a:defRPr sz="5200" b="1"/>
            </a:lvl8pPr>
            <a:lvl9pPr lvl="8" algn="ctr" rtl="0">
              <a:spcBef>
                <a:spcPts val="0"/>
              </a:spcBef>
              <a:spcAft>
                <a:spcPts val="0"/>
              </a:spcAft>
              <a:buSzPts val="5200"/>
              <a:buNone/>
              <a:defRPr sz="5200" b="1"/>
            </a:lvl9pPr>
          </a:lstStyle>
          <a:p>
            <a:endParaRPr/>
          </a:p>
        </p:txBody>
      </p:sp>
      <p:sp>
        <p:nvSpPr>
          <p:cNvPr id="12" name="Google Shape;12;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Clr>
                <a:schemeClr val="lt1"/>
              </a:buClr>
              <a:buSzPts val="2500"/>
              <a:buNone/>
              <a:defRPr sz="2500">
                <a:solidFill>
                  <a:schemeClr val="lt1"/>
                </a:solidFill>
              </a:defRPr>
            </a:lvl1pPr>
            <a:lvl2pPr lvl="1" algn="ctr" rtl="0">
              <a:lnSpc>
                <a:spcPct val="100000"/>
              </a:lnSpc>
              <a:spcBef>
                <a:spcPts val="0"/>
              </a:spcBef>
              <a:spcAft>
                <a:spcPts val="0"/>
              </a:spcAft>
              <a:buClr>
                <a:schemeClr val="lt1"/>
              </a:buClr>
              <a:buSzPts val="2800"/>
              <a:buNone/>
              <a:defRPr sz="2800">
                <a:solidFill>
                  <a:schemeClr val="lt1"/>
                </a:solidFill>
              </a:defRPr>
            </a:lvl2pPr>
            <a:lvl3pPr lvl="2" algn="ctr" rtl="0">
              <a:lnSpc>
                <a:spcPct val="100000"/>
              </a:lnSpc>
              <a:spcBef>
                <a:spcPts val="0"/>
              </a:spcBef>
              <a:spcAft>
                <a:spcPts val="0"/>
              </a:spcAft>
              <a:buClr>
                <a:schemeClr val="lt1"/>
              </a:buClr>
              <a:buSzPts val="2800"/>
              <a:buNone/>
              <a:defRPr sz="2800">
                <a:solidFill>
                  <a:schemeClr val="lt1"/>
                </a:solidFill>
              </a:defRPr>
            </a:lvl3pPr>
            <a:lvl4pPr lvl="3" algn="ctr" rtl="0">
              <a:lnSpc>
                <a:spcPct val="100000"/>
              </a:lnSpc>
              <a:spcBef>
                <a:spcPts val="0"/>
              </a:spcBef>
              <a:spcAft>
                <a:spcPts val="0"/>
              </a:spcAft>
              <a:buClr>
                <a:schemeClr val="lt1"/>
              </a:buClr>
              <a:buSzPts val="2800"/>
              <a:buNone/>
              <a:defRPr sz="2800">
                <a:solidFill>
                  <a:schemeClr val="lt1"/>
                </a:solidFill>
              </a:defRPr>
            </a:lvl4pPr>
            <a:lvl5pPr lvl="4" algn="ctr" rtl="0">
              <a:lnSpc>
                <a:spcPct val="100000"/>
              </a:lnSpc>
              <a:spcBef>
                <a:spcPts val="0"/>
              </a:spcBef>
              <a:spcAft>
                <a:spcPts val="0"/>
              </a:spcAft>
              <a:buClr>
                <a:schemeClr val="lt1"/>
              </a:buClr>
              <a:buSzPts val="2800"/>
              <a:buNone/>
              <a:defRPr sz="2800">
                <a:solidFill>
                  <a:schemeClr val="lt1"/>
                </a:solidFill>
              </a:defRPr>
            </a:lvl5pPr>
            <a:lvl6pPr lvl="5" algn="ctr" rtl="0">
              <a:lnSpc>
                <a:spcPct val="100000"/>
              </a:lnSpc>
              <a:spcBef>
                <a:spcPts val="0"/>
              </a:spcBef>
              <a:spcAft>
                <a:spcPts val="0"/>
              </a:spcAft>
              <a:buClr>
                <a:schemeClr val="lt1"/>
              </a:buClr>
              <a:buSzPts val="2800"/>
              <a:buNone/>
              <a:defRPr sz="2800">
                <a:solidFill>
                  <a:schemeClr val="lt1"/>
                </a:solidFill>
              </a:defRPr>
            </a:lvl6pPr>
            <a:lvl7pPr lvl="6" algn="ctr" rtl="0">
              <a:lnSpc>
                <a:spcPct val="100000"/>
              </a:lnSpc>
              <a:spcBef>
                <a:spcPts val="0"/>
              </a:spcBef>
              <a:spcAft>
                <a:spcPts val="0"/>
              </a:spcAft>
              <a:buClr>
                <a:schemeClr val="lt1"/>
              </a:buClr>
              <a:buSzPts val="2800"/>
              <a:buNone/>
              <a:defRPr sz="2800">
                <a:solidFill>
                  <a:schemeClr val="lt1"/>
                </a:solidFill>
              </a:defRPr>
            </a:lvl7pPr>
            <a:lvl8pPr lvl="7" algn="ctr" rtl="0">
              <a:lnSpc>
                <a:spcPct val="100000"/>
              </a:lnSpc>
              <a:spcBef>
                <a:spcPts val="0"/>
              </a:spcBef>
              <a:spcAft>
                <a:spcPts val="0"/>
              </a:spcAft>
              <a:buClr>
                <a:schemeClr val="lt1"/>
              </a:buClr>
              <a:buSzPts val="2800"/>
              <a:buNone/>
              <a:defRPr sz="2800">
                <a:solidFill>
                  <a:schemeClr val="lt1"/>
                </a:solidFill>
              </a:defRPr>
            </a:lvl8pPr>
            <a:lvl9pPr lvl="8" algn="ctr" rtl="0">
              <a:lnSpc>
                <a:spcPct val="100000"/>
              </a:lnSpc>
              <a:spcBef>
                <a:spcPts val="0"/>
              </a:spcBef>
              <a:spcAft>
                <a:spcPts val="0"/>
              </a:spcAft>
              <a:buClr>
                <a:schemeClr val="lt1"/>
              </a:buClr>
              <a:buSzPts val="2800"/>
              <a:buNone/>
              <a:defRPr sz="2800">
                <a:solidFill>
                  <a:schemeClr val="lt1"/>
                </a:solidFill>
              </a:defRPr>
            </a:lvl9pPr>
          </a:lstStyle>
          <a:p>
            <a:endParaRPr/>
          </a:p>
        </p:txBody>
      </p:sp>
      <p:sp>
        <p:nvSpPr>
          <p:cNvPr id="13" name="Google Shape;13;p2"/>
          <p:cNvSpPr txBox="1">
            <a:spLocks noGrp="1"/>
          </p:cNvSpPr>
          <p:nvPr>
            <p:ph type="sldNum" idx="12"/>
          </p:nvPr>
        </p:nvSpPr>
        <p:spPr>
          <a:xfrm>
            <a:off x="8472458" y="4611792"/>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‹N°›</a:t>
            </a:fld>
            <a:endParaRPr/>
          </a:p>
        </p:txBody>
      </p:sp>
      <p:sp>
        <p:nvSpPr>
          <p:cNvPr id="14" name="Google Shape;14;p2"/>
          <p:cNvSpPr/>
          <p:nvPr/>
        </p:nvSpPr>
        <p:spPr>
          <a:xfrm>
            <a:off x="159863" y="95913"/>
            <a:ext cx="936300" cy="677700"/>
          </a:xfrm>
          <a:prstGeom prst="rect">
            <a:avLst/>
          </a:prstGeom>
          <a:solidFill>
            <a:srgbClr val="1C458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pic>
        <p:nvPicPr>
          <p:cNvPr id="15" name="Google Shape;15;p2"/>
          <p:cNvPicPr preferRelativeResize="0"/>
          <p:nvPr/>
        </p:nvPicPr>
        <p:blipFill rotWithShape="1">
          <a:blip r:embed="rId2">
            <a:alphaModFix/>
          </a:blip>
          <a:srcRect b="10346"/>
          <a:stretch/>
        </p:blipFill>
        <p:spPr>
          <a:xfrm>
            <a:off x="324975" y="181000"/>
            <a:ext cx="606075" cy="507524"/>
          </a:xfrm>
          <a:prstGeom prst="rect">
            <a:avLst/>
          </a:prstGeom>
          <a:noFill/>
          <a:ln>
            <a:noFill/>
          </a:ln>
        </p:spPr>
      </p:pic>
      <p:sp>
        <p:nvSpPr>
          <p:cNvPr id="16" name="Google Shape;16;p2"/>
          <p:cNvSpPr/>
          <p:nvPr/>
        </p:nvSpPr>
        <p:spPr>
          <a:xfrm>
            <a:off x="75840" y="4421100"/>
            <a:ext cx="2068200" cy="677700"/>
          </a:xfrm>
          <a:prstGeom prst="rect">
            <a:avLst/>
          </a:prstGeom>
          <a:solidFill>
            <a:srgbClr val="1C4587"/>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Inter"/>
              <a:ea typeface="Inter"/>
              <a:cs typeface="Inter"/>
              <a:sym typeface="Inte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9" name="Google Shape;19;p3"/>
          <p:cNvSpPr txBox="1">
            <a:spLocks noGrp="1"/>
          </p:cNvSpPr>
          <p:nvPr>
            <p:ph type="sldNum" idx="12"/>
          </p:nvPr>
        </p:nvSpPr>
        <p:spPr>
          <a:xfrm>
            <a:off x="8472458" y="4611792"/>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4"/>
          <p:cNvSpPr txBox="1">
            <a:spLocks noGrp="1"/>
          </p:cNvSpPr>
          <p:nvPr>
            <p:ph type="title"/>
          </p:nvPr>
        </p:nvSpPr>
        <p:spPr>
          <a:xfrm>
            <a:off x="311700" y="317250"/>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Clr>
                <a:srgbClr val="073763"/>
              </a:buClr>
              <a:buSzPts val="2800"/>
              <a:buNone/>
              <a:defRPr b="1">
                <a:solidFill>
                  <a:srgbClr val="073763"/>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2" name="Google Shape;22;p4"/>
          <p:cNvSpPr txBox="1">
            <a:spLocks noGrp="1"/>
          </p:cNvSpPr>
          <p:nvPr>
            <p:ph type="body" idx="1"/>
          </p:nvPr>
        </p:nvSpPr>
        <p:spPr>
          <a:xfrm>
            <a:off x="311700" y="1014600"/>
            <a:ext cx="8520600" cy="3515400"/>
          </a:xfrm>
          <a:prstGeom prst="rect">
            <a:avLst/>
          </a:prstGeom>
        </p:spPr>
        <p:txBody>
          <a:bodyPr spcFirstLastPara="1" wrap="square" lIns="91425" tIns="91425" rIns="91425" bIns="91425" anchor="t" anchorCtr="0">
            <a:normAutofit/>
          </a:bodyPr>
          <a:lstStyle>
            <a:lvl1pPr marL="457200" lvl="0" indent="-336550" rtl="0">
              <a:spcBef>
                <a:spcPts val="0"/>
              </a:spcBef>
              <a:spcAft>
                <a:spcPts val="0"/>
              </a:spcAft>
              <a:buClr>
                <a:srgbClr val="000000"/>
              </a:buClr>
              <a:buSzPts val="1700"/>
              <a:buChar char="●"/>
              <a:defRPr sz="1700">
                <a:solidFill>
                  <a:srgbClr val="000000"/>
                </a:solidFill>
              </a:defRPr>
            </a:lvl1pPr>
            <a:lvl2pPr marL="914400" lvl="1" indent="-317500" rtl="0">
              <a:lnSpc>
                <a:spcPct val="100000"/>
              </a:lnSpc>
              <a:spcBef>
                <a:spcPts val="0"/>
              </a:spcBef>
              <a:spcAft>
                <a:spcPts val="0"/>
              </a:spcAft>
              <a:buClr>
                <a:srgbClr val="000000"/>
              </a:buClr>
              <a:buSzPts val="1400"/>
              <a:buChar char="○"/>
              <a:defRPr>
                <a:solidFill>
                  <a:srgbClr val="000000"/>
                </a:solidFill>
              </a:defRPr>
            </a:lvl2pPr>
            <a:lvl3pPr marL="1371600" lvl="2" indent="-317500" rtl="0">
              <a:lnSpc>
                <a:spcPct val="100000"/>
              </a:lnSpc>
              <a:spcBef>
                <a:spcPts val="0"/>
              </a:spcBef>
              <a:spcAft>
                <a:spcPts val="0"/>
              </a:spcAft>
              <a:buClr>
                <a:srgbClr val="000000"/>
              </a:buClr>
              <a:buSzPts val="1400"/>
              <a:buChar char="■"/>
              <a:defRPr>
                <a:solidFill>
                  <a:srgbClr val="000000"/>
                </a:solidFill>
              </a:defRPr>
            </a:lvl3pPr>
            <a:lvl4pPr marL="1828800" lvl="3" indent="-317500" rtl="0">
              <a:lnSpc>
                <a:spcPct val="100000"/>
              </a:lnSpc>
              <a:spcBef>
                <a:spcPts val="0"/>
              </a:spcBef>
              <a:spcAft>
                <a:spcPts val="0"/>
              </a:spcAft>
              <a:buClr>
                <a:srgbClr val="000000"/>
              </a:buClr>
              <a:buSzPts val="1400"/>
              <a:buChar char="●"/>
              <a:defRPr>
                <a:solidFill>
                  <a:srgbClr val="000000"/>
                </a:solidFill>
              </a:defRPr>
            </a:lvl4pPr>
            <a:lvl5pPr marL="2286000" lvl="4" indent="-317500" rtl="0">
              <a:lnSpc>
                <a:spcPct val="100000"/>
              </a:lnSpc>
              <a:spcBef>
                <a:spcPts val="0"/>
              </a:spcBef>
              <a:spcAft>
                <a:spcPts val="0"/>
              </a:spcAft>
              <a:buClr>
                <a:srgbClr val="000000"/>
              </a:buClr>
              <a:buSzPts val="1400"/>
              <a:buChar char="○"/>
              <a:defRPr>
                <a:solidFill>
                  <a:srgbClr val="000000"/>
                </a:solidFill>
              </a:defRPr>
            </a:lvl5pPr>
            <a:lvl6pPr marL="2743200" lvl="5" indent="-317500" rtl="0">
              <a:lnSpc>
                <a:spcPct val="100000"/>
              </a:lnSpc>
              <a:spcBef>
                <a:spcPts val="0"/>
              </a:spcBef>
              <a:spcAft>
                <a:spcPts val="0"/>
              </a:spcAft>
              <a:buClr>
                <a:srgbClr val="000000"/>
              </a:buClr>
              <a:buSzPts val="1400"/>
              <a:buChar char="■"/>
              <a:defRPr>
                <a:solidFill>
                  <a:srgbClr val="000000"/>
                </a:solidFill>
              </a:defRPr>
            </a:lvl6pPr>
            <a:lvl7pPr marL="3200400" lvl="6" indent="-317500" rtl="0">
              <a:lnSpc>
                <a:spcPct val="100000"/>
              </a:lnSpc>
              <a:spcBef>
                <a:spcPts val="0"/>
              </a:spcBef>
              <a:spcAft>
                <a:spcPts val="0"/>
              </a:spcAft>
              <a:buClr>
                <a:srgbClr val="000000"/>
              </a:buClr>
              <a:buSzPts val="1400"/>
              <a:buChar char="●"/>
              <a:defRPr>
                <a:solidFill>
                  <a:srgbClr val="000000"/>
                </a:solidFill>
              </a:defRPr>
            </a:lvl7pPr>
            <a:lvl8pPr marL="3657600" lvl="7" indent="-317500" rtl="0">
              <a:lnSpc>
                <a:spcPct val="100000"/>
              </a:lnSpc>
              <a:spcBef>
                <a:spcPts val="0"/>
              </a:spcBef>
              <a:spcAft>
                <a:spcPts val="0"/>
              </a:spcAft>
              <a:buClr>
                <a:srgbClr val="000000"/>
              </a:buClr>
              <a:buSzPts val="1400"/>
              <a:buChar char="○"/>
              <a:defRPr>
                <a:solidFill>
                  <a:srgbClr val="000000"/>
                </a:solidFill>
              </a:defRPr>
            </a:lvl8pPr>
            <a:lvl9pPr marL="4114800" lvl="8" indent="-317500" rtl="0">
              <a:lnSpc>
                <a:spcPct val="100000"/>
              </a:lnSpc>
              <a:spcBef>
                <a:spcPts val="0"/>
              </a:spcBef>
              <a:spcAft>
                <a:spcPts val="0"/>
              </a:spcAft>
              <a:buClr>
                <a:srgbClr val="000000"/>
              </a:buClr>
              <a:buSzPts val="1400"/>
              <a:buChar char="■"/>
              <a:defRPr>
                <a:solidFill>
                  <a:srgbClr val="000000"/>
                </a:solidFill>
              </a:defRPr>
            </a:lvl9pPr>
          </a:lstStyle>
          <a:p>
            <a:endParaRPr/>
          </a:p>
        </p:txBody>
      </p:sp>
      <p:sp>
        <p:nvSpPr>
          <p:cNvPr id="23" name="Google Shape;23;p4"/>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lvl1pPr lvl="0" rtl="0">
              <a:buNone/>
              <a:defRPr b="0"/>
            </a:lvl1pPr>
            <a:lvl2pPr lvl="1" rtl="0">
              <a:buNone/>
              <a:defRPr b="0"/>
            </a:lvl2pPr>
            <a:lvl3pPr lvl="2" rtl="0">
              <a:buNone/>
              <a:defRPr b="0"/>
            </a:lvl3pPr>
            <a:lvl4pPr lvl="3" rtl="0">
              <a:buNone/>
              <a:defRPr b="0"/>
            </a:lvl4pPr>
            <a:lvl5pPr lvl="4" rtl="0">
              <a:buNone/>
              <a:defRPr b="0"/>
            </a:lvl5pPr>
            <a:lvl6pPr lvl="5" rtl="0">
              <a:buNone/>
              <a:defRPr b="0"/>
            </a:lvl6pPr>
            <a:lvl7pPr lvl="6" rtl="0">
              <a:buNone/>
              <a:defRPr b="0"/>
            </a:lvl7pPr>
            <a:lvl8pPr lvl="7" rtl="0">
              <a:buNone/>
              <a:defRPr b="0"/>
            </a:lvl8pPr>
            <a:lvl9pPr lvl="8" rtl="0">
              <a:buNone/>
              <a:defRPr b="0"/>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311700" y="8301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26" name="Google Shape;26;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27" name="Google Shape;27;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28" name="Google Shape;28;p5"/>
          <p:cNvSpPr txBox="1">
            <a:spLocks noGrp="1"/>
          </p:cNvSpPr>
          <p:nvPr>
            <p:ph type="sldNum" idx="12"/>
          </p:nvPr>
        </p:nvSpPr>
        <p:spPr>
          <a:xfrm>
            <a:off x="8472458" y="4611792"/>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311700" y="8301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1" name="Google Shape;31;p6"/>
          <p:cNvSpPr txBox="1">
            <a:spLocks noGrp="1"/>
          </p:cNvSpPr>
          <p:nvPr>
            <p:ph type="sldNum" idx="12"/>
          </p:nvPr>
        </p:nvSpPr>
        <p:spPr>
          <a:xfrm>
            <a:off x="8472458" y="4611792"/>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34" name="Google Shape;34;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rtl="0">
              <a:spcBef>
                <a:spcPts val="0"/>
              </a:spcBef>
              <a:spcAft>
                <a:spcPts val="0"/>
              </a:spcAft>
              <a:buSzPts val="1200"/>
              <a:buChar char="●"/>
              <a:defRPr sz="12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35" name="Google Shape;35;p7"/>
          <p:cNvSpPr txBox="1">
            <a:spLocks noGrp="1"/>
          </p:cNvSpPr>
          <p:nvPr>
            <p:ph type="sldNum" idx="12"/>
          </p:nvPr>
        </p:nvSpPr>
        <p:spPr>
          <a:xfrm>
            <a:off x="8472458" y="4611792"/>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38" name="Google Shape;38;p8"/>
          <p:cNvSpPr txBox="1">
            <a:spLocks noGrp="1"/>
          </p:cNvSpPr>
          <p:nvPr>
            <p:ph type="sldNum" idx="12"/>
          </p:nvPr>
        </p:nvSpPr>
        <p:spPr>
          <a:xfrm>
            <a:off x="8472458" y="4611792"/>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sp>
        <p:nvSpPr>
          <p:cNvPr id="40" name="Google Shape;40;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4200"/>
              <a:buNone/>
              <a:defRPr sz="42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42" name="Google Shape;42;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SzPts val="2100"/>
              <a:buNone/>
              <a:defRPr sz="21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
        <p:nvSpPr>
          <p:cNvPr id="43" name="Google Shape;43;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44" name="Google Shape;44;p9"/>
          <p:cNvSpPr txBox="1">
            <a:spLocks noGrp="1"/>
          </p:cNvSpPr>
          <p:nvPr>
            <p:ph type="sldNum" idx="12"/>
          </p:nvPr>
        </p:nvSpPr>
        <p:spPr>
          <a:xfrm>
            <a:off x="8472458" y="4611792"/>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5"/>
        <p:cNvGrpSpPr/>
        <p:nvPr/>
      </p:nvGrpSpPr>
      <p:grpSpPr>
        <a:xfrm>
          <a:off x="0" y="0"/>
          <a:ext cx="0" cy="0"/>
          <a:chOff x="0" y="0"/>
          <a:chExt cx="0" cy="0"/>
        </a:xfrm>
      </p:grpSpPr>
      <p:sp>
        <p:nvSpPr>
          <p:cNvPr id="46" name="Google Shape;46;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rtl="0">
              <a:lnSpc>
                <a:spcPct val="100000"/>
              </a:lnSpc>
              <a:spcBef>
                <a:spcPts val="0"/>
              </a:spcBef>
              <a:spcAft>
                <a:spcPts val="0"/>
              </a:spcAft>
              <a:buSzPts val="1800"/>
              <a:buNone/>
              <a:defRPr/>
            </a:lvl1pPr>
          </a:lstStyle>
          <a:p>
            <a:endParaRPr/>
          </a:p>
        </p:txBody>
      </p:sp>
      <p:sp>
        <p:nvSpPr>
          <p:cNvPr id="47" name="Google Shape;47;p10"/>
          <p:cNvSpPr txBox="1">
            <a:spLocks noGrp="1"/>
          </p:cNvSpPr>
          <p:nvPr>
            <p:ph type="sldNum" idx="12"/>
          </p:nvPr>
        </p:nvSpPr>
        <p:spPr>
          <a:xfrm>
            <a:off x="8472458" y="4611792"/>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8"/>
        <p:cNvGrpSpPr/>
        <p:nvPr/>
      </p:nvGrpSpPr>
      <p:grpSpPr>
        <a:xfrm>
          <a:off x="0" y="0"/>
          <a:ext cx="0" cy="0"/>
          <a:chOff x="0" y="0"/>
          <a:chExt cx="0" cy="0"/>
        </a:xfrm>
      </p:grpSpPr>
      <p:sp>
        <p:nvSpPr>
          <p:cNvPr id="49" name="Google Shape;49;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rtl="0">
              <a:spcBef>
                <a:spcPts val="0"/>
              </a:spcBef>
              <a:spcAft>
                <a:spcPts val="0"/>
              </a:spcAft>
              <a:buSzPts val="12000"/>
              <a:buNone/>
              <a:defRPr sz="12000"/>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50" name="Google Shape;50;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rtl="0">
              <a:spcBef>
                <a:spcPts val="0"/>
              </a:spcBef>
              <a:spcAft>
                <a:spcPts val="0"/>
              </a:spcAft>
              <a:buSzPts val="1800"/>
              <a:buChar char="●"/>
              <a:defRPr/>
            </a:lvl1pPr>
            <a:lvl2pPr marL="914400" lvl="1" indent="-317500" algn="ctr" rtl="0">
              <a:spcBef>
                <a:spcPts val="0"/>
              </a:spcBef>
              <a:spcAft>
                <a:spcPts val="0"/>
              </a:spcAft>
              <a:buSzPts val="1400"/>
              <a:buChar char="○"/>
              <a:defRPr/>
            </a:lvl2pPr>
            <a:lvl3pPr marL="1371600" lvl="2" indent="-317500" algn="ctr" rtl="0">
              <a:spcBef>
                <a:spcPts val="0"/>
              </a:spcBef>
              <a:spcAft>
                <a:spcPts val="0"/>
              </a:spcAft>
              <a:buSzPts val="1400"/>
              <a:buChar char="■"/>
              <a:defRPr/>
            </a:lvl3pPr>
            <a:lvl4pPr marL="1828800" lvl="3" indent="-317500" algn="ctr" rtl="0">
              <a:spcBef>
                <a:spcPts val="0"/>
              </a:spcBef>
              <a:spcAft>
                <a:spcPts val="0"/>
              </a:spcAft>
              <a:buSzPts val="1400"/>
              <a:buChar char="●"/>
              <a:defRPr/>
            </a:lvl4pPr>
            <a:lvl5pPr marL="2286000" lvl="4" indent="-317500" algn="ctr" rtl="0">
              <a:spcBef>
                <a:spcPts val="0"/>
              </a:spcBef>
              <a:spcAft>
                <a:spcPts val="0"/>
              </a:spcAft>
              <a:buSzPts val="1400"/>
              <a:buChar char="○"/>
              <a:defRPr/>
            </a:lvl5pPr>
            <a:lvl6pPr marL="2743200" lvl="5" indent="-317500" algn="ctr" rtl="0">
              <a:spcBef>
                <a:spcPts val="0"/>
              </a:spcBef>
              <a:spcAft>
                <a:spcPts val="0"/>
              </a:spcAft>
              <a:buSzPts val="1400"/>
              <a:buChar char="■"/>
              <a:defRPr/>
            </a:lvl6pPr>
            <a:lvl7pPr marL="3200400" lvl="6" indent="-317500" algn="ctr" rtl="0">
              <a:spcBef>
                <a:spcPts val="0"/>
              </a:spcBef>
              <a:spcAft>
                <a:spcPts val="0"/>
              </a:spcAft>
              <a:buSzPts val="1400"/>
              <a:buChar char="●"/>
              <a:defRPr/>
            </a:lvl7pPr>
            <a:lvl8pPr marL="3657600" lvl="7" indent="-317500" algn="ctr" rtl="0">
              <a:spcBef>
                <a:spcPts val="0"/>
              </a:spcBef>
              <a:spcAft>
                <a:spcPts val="0"/>
              </a:spcAft>
              <a:buSzPts val="1400"/>
              <a:buChar char="○"/>
              <a:defRPr/>
            </a:lvl8pPr>
            <a:lvl9pPr marL="4114800" lvl="8" indent="-317500" algn="ctr" rtl="0">
              <a:spcBef>
                <a:spcPts val="0"/>
              </a:spcBef>
              <a:spcAft>
                <a:spcPts val="0"/>
              </a:spcAft>
              <a:buSzPts val="1400"/>
              <a:buChar char="■"/>
              <a:defRPr/>
            </a:lvl9pPr>
          </a:lstStyle>
          <a:p>
            <a:endParaRPr/>
          </a:p>
        </p:txBody>
      </p:sp>
      <p:sp>
        <p:nvSpPr>
          <p:cNvPr id="51" name="Google Shape;51;p11"/>
          <p:cNvSpPr txBox="1">
            <a:spLocks noGrp="1"/>
          </p:cNvSpPr>
          <p:nvPr>
            <p:ph type="sldNum" idx="12"/>
          </p:nvPr>
        </p:nvSpPr>
        <p:spPr>
          <a:xfrm>
            <a:off x="8472458" y="4611792"/>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2"/>
        <p:cNvGrpSpPr/>
        <p:nvPr/>
      </p:nvGrpSpPr>
      <p:grpSpPr>
        <a:xfrm>
          <a:off x="0" y="0"/>
          <a:ext cx="0" cy="0"/>
          <a:chOff x="0" y="0"/>
          <a:chExt cx="0" cy="0"/>
        </a:xfrm>
      </p:grpSpPr>
      <p:sp>
        <p:nvSpPr>
          <p:cNvPr id="53" name="Google Shape;53;p12"/>
          <p:cNvSpPr txBox="1">
            <a:spLocks noGrp="1"/>
          </p:cNvSpPr>
          <p:nvPr>
            <p:ph type="sldNum" idx="12"/>
          </p:nvPr>
        </p:nvSpPr>
        <p:spPr>
          <a:xfrm>
            <a:off x="8472458" y="4611792"/>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GB"/>
              <a:t>‹N°›</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830125"/>
            <a:ext cx="8520600" cy="572700"/>
          </a:xfrm>
          <a:prstGeom prst="rect">
            <a:avLst/>
          </a:prstGeom>
          <a:noFill/>
          <a:ln>
            <a:noFill/>
          </a:ln>
        </p:spPr>
        <p:txBody>
          <a:bodyPr spcFirstLastPara="1" wrap="square" lIns="91425" tIns="91425" rIns="91425" bIns="91425" anchor="t" anchorCtr="0">
            <a:normAutofit/>
          </a:bodyPr>
          <a:lstStyle>
            <a:lvl1pPr lvl="0" rtl="0">
              <a:spcBef>
                <a:spcPts val="0"/>
              </a:spcBef>
              <a:spcAft>
                <a:spcPts val="0"/>
              </a:spcAft>
              <a:buClr>
                <a:schemeClr val="dk1"/>
              </a:buClr>
              <a:buSzPts val="2800"/>
              <a:buFont typeface="Inter"/>
              <a:buNone/>
              <a:defRPr sz="2800">
                <a:solidFill>
                  <a:schemeClr val="dk1"/>
                </a:solidFill>
                <a:latin typeface="Inter"/>
                <a:ea typeface="Inter"/>
                <a:cs typeface="Inter"/>
                <a:sym typeface="Inter"/>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537575"/>
            <a:ext cx="8520600" cy="3416400"/>
          </a:xfrm>
          <a:prstGeom prst="rect">
            <a:avLst/>
          </a:prstGeom>
          <a:noFill/>
          <a:ln>
            <a:noFill/>
          </a:ln>
        </p:spPr>
        <p:txBody>
          <a:bodyPr spcFirstLastPara="1" wrap="square" lIns="91425" tIns="91425" rIns="91425" bIns="91425" anchor="t" anchorCtr="0">
            <a:normAutofit/>
          </a:bodyPr>
          <a:lstStyle>
            <a:lvl1pPr marL="457200" lvl="0" indent="-342900" rtl="0">
              <a:lnSpc>
                <a:spcPct val="115000"/>
              </a:lnSpc>
              <a:spcBef>
                <a:spcPts val="0"/>
              </a:spcBef>
              <a:spcAft>
                <a:spcPts val="0"/>
              </a:spcAft>
              <a:buClr>
                <a:schemeClr val="dk2"/>
              </a:buClr>
              <a:buSzPts val="1800"/>
              <a:buFont typeface="Inter"/>
              <a:buChar char="●"/>
              <a:defRPr sz="1800">
                <a:solidFill>
                  <a:schemeClr val="dk2"/>
                </a:solidFill>
                <a:latin typeface="Inter"/>
                <a:ea typeface="Inter"/>
                <a:cs typeface="Inter"/>
                <a:sym typeface="Inter"/>
              </a:defRPr>
            </a:lvl1pPr>
            <a:lvl2pPr marL="914400" lvl="1" indent="-317500" rtl="0">
              <a:lnSpc>
                <a:spcPct val="115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2pPr>
            <a:lvl3pPr marL="1371600" lvl="2" indent="-317500" rtl="0">
              <a:lnSpc>
                <a:spcPct val="115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3pPr>
            <a:lvl4pPr marL="1828800" lvl="3" indent="-317500" rtl="0">
              <a:lnSpc>
                <a:spcPct val="115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4pPr>
            <a:lvl5pPr marL="2286000" lvl="4" indent="-317500" rtl="0">
              <a:lnSpc>
                <a:spcPct val="115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5pPr>
            <a:lvl6pPr marL="2743200" lvl="5" indent="-317500" rtl="0">
              <a:lnSpc>
                <a:spcPct val="115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6pPr>
            <a:lvl7pPr marL="3200400" lvl="6" indent="-317500" rtl="0">
              <a:lnSpc>
                <a:spcPct val="115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7pPr>
            <a:lvl8pPr marL="3657600" lvl="7" indent="-317500" rtl="0">
              <a:lnSpc>
                <a:spcPct val="115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8pPr>
            <a:lvl9pPr marL="4114800" lvl="8" indent="-317500" rtl="0">
              <a:lnSpc>
                <a:spcPct val="115000"/>
              </a:lnSpc>
              <a:spcBef>
                <a:spcPts val="0"/>
              </a:spcBef>
              <a:spcAft>
                <a:spcPts val="0"/>
              </a:spcAft>
              <a:buClr>
                <a:schemeClr val="dk2"/>
              </a:buClr>
              <a:buSzPts val="1400"/>
              <a:buFont typeface="Inter"/>
              <a:buChar char="■"/>
              <a:defRPr>
                <a:solidFill>
                  <a:schemeClr val="dk2"/>
                </a:solidFill>
                <a:latin typeface="Inter"/>
                <a:ea typeface="Inter"/>
                <a:cs typeface="Inter"/>
                <a:sym typeface="Inter"/>
              </a:defRPr>
            </a:lvl9pPr>
          </a:lstStyle>
          <a:p>
            <a:endParaRPr/>
          </a:p>
        </p:txBody>
      </p:sp>
      <p:sp>
        <p:nvSpPr>
          <p:cNvPr id="8" name="Google Shape;8;p1"/>
          <p:cNvSpPr txBox="1">
            <a:spLocks noGrp="1"/>
          </p:cNvSpPr>
          <p:nvPr>
            <p:ph type="sldNum" idx="12"/>
          </p:nvPr>
        </p:nvSpPr>
        <p:spPr>
          <a:xfrm>
            <a:off x="8472458" y="4611792"/>
            <a:ext cx="548700" cy="393600"/>
          </a:xfrm>
          <a:prstGeom prst="rect">
            <a:avLst/>
          </a:prstGeom>
          <a:noFill/>
          <a:ln>
            <a:noFill/>
          </a:ln>
        </p:spPr>
        <p:txBody>
          <a:bodyPr spcFirstLastPara="1" wrap="square" lIns="91425" tIns="91425" rIns="91425" bIns="91425" anchor="ctr" anchorCtr="0">
            <a:normAutofit/>
          </a:bodyPr>
          <a:lstStyle>
            <a:lvl1pPr lvl="0" algn="r" rtl="0">
              <a:buNone/>
              <a:defRPr sz="1000" b="1">
                <a:solidFill>
                  <a:schemeClr val="dk1"/>
                </a:solidFill>
                <a:latin typeface="Inter"/>
                <a:ea typeface="Inter"/>
                <a:cs typeface="Inter"/>
                <a:sym typeface="Inter"/>
              </a:defRPr>
            </a:lvl1pPr>
            <a:lvl2pPr lvl="1" algn="r" rtl="0">
              <a:buNone/>
              <a:defRPr sz="1000" b="1">
                <a:solidFill>
                  <a:schemeClr val="dk1"/>
                </a:solidFill>
                <a:latin typeface="Inter"/>
                <a:ea typeface="Inter"/>
                <a:cs typeface="Inter"/>
                <a:sym typeface="Inter"/>
              </a:defRPr>
            </a:lvl2pPr>
            <a:lvl3pPr lvl="2" algn="r" rtl="0">
              <a:buNone/>
              <a:defRPr sz="1000" b="1">
                <a:solidFill>
                  <a:schemeClr val="dk1"/>
                </a:solidFill>
                <a:latin typeface="Inter"/>
                <a:ea typeface="Inter"/>
                <a:cs typeface="Inter"/>
                <a:sym typeface="Inter"/>
              </a:defRPr>
            </a:lvl3pPr>
            <a:lvl4pPr lvl="3" algn="r" rtl="0">
              <a:buNone/>
              <a:defRPr sz="1000" b="1">
                <a:solidFill>
                  <a:schemeClr val="dk1"/>
                </a:solidFill>
                <a:latin typeface="Inter"/>
                <a:ea typeface="Inter"/>
                <a:cs typeface="Inter"/>
                <a:sym typeface="Inter"/>
              </a:defRPr>
            </a:lvl4pPr>
            <a:lvl5pPr lvl="4" algn="r" rtl="0">
              <a:buNone/>
              <a:defRPr sz="1000" b="1">
                <a:solidFill>
                  <a:schemeClr val="dk1"/>
                </a:solidFill>
                <a:latin typeface="Inter"/>
                <a:ea typeface="Inter"/>
                <a:cs typeface="Inter"/>
                <a:sym typeface="Inter"/>
              </a:defRPr>
            </a:lvl5pPr>
            <a:lvl6pPr lvl="5" algn="r" rtl="0">
              <a:buNone/>
              <a:defRPr sz="1000" b="1">
                <a:solidFill>
                  <a:schemeClr val="dk1"/>
                </a:solidFill>
                <a:latin typeface="Inter"/>
                <a:ea typeface="Inter"/>
                <a:cs typeface="Inter"/>
                <a:sym typeface="Inter"/>
              </a:defRPr>
            </a:lvl6pPr>
            <a:lvl7pPr lvl="6" algn="r" rtl="0">
              <a:buNone/>
              <a:defRPr sz="1000" b="1">
                <a:solidFill>
                  <a:schemeClr val="dk1"/>
                </a:solidFill>
                <a:latin typeface="Inter"/>
                <a:ea typeface="Inter"/>
                <a:cs typeface="Inter"/>
                <a:sym typeface="Inter"/>
              </a:defRPr>
            </a:lvl7pPr>
            <a:lvl8pPr lvl="7" algn="r" rtl="0">
              <a:buNone/>
              <a:defRPr sz="1000" b="1">
                <a:solidFill>
                  <a:schemeClr val="dk1"/>
                </a:solidFill>
                <a:latin typeface="Inter"/>
                <a:ea typeface="Inter"/>
                <a:cs typeface="Inter"/>
                <a:sym typeface="Inter"/>
              </a:defRPr>
            </a:lvl8pPr>
            <a:lvl9pPr lvl="8" algn="r" rtl="0">
              <a:buNone/>
              <a:defRPr sz="1000" b="1">
                <a:solidFill>
                  <a:schemeClr val="dk1"/>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GB"/>
              <a:t>‹N°›</a:t>
            </a:fld>
            <a:endParaRPr/>
          </a:p>
        </p:txBody>
      </p:sp>
      <p:pic>
        <p:nvPicPr>
          <p:cNvPr id="9" name="Google Shape;9;p1"/>
          <p:cNvPicPr preferRelativeResize="0"/>
          <p:nvPr/>
        </p:nvPicPr>
        <p:blipFill>
          <a:blip r:embed="rId13">
            <a:alphaModFix/>
          </a:blip>
          <a:stretch>
            <a:fillRect/>
          </a:stretch>
        </p:blipFill>
        <p:spPr>
          <a:xfrm>
            <a:off x="128000" y="4714650"/>
            <a:ext cx="1748378" cy="29075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p13"/>
          <p:cNvSpPr txBox="1">
            <a:spLocks noGrp="1"/>
          </p:cNvSpPr>
          <p:nvPr>
            <p:ph type="ctrTitle"/>
          </p:nvPr>
        </p:nvSpPr>
        <p:spPr>
          <a:xfrm>
            <a:off x="512075" y="933200"/>
            <a:ext cx="8421900" cy="1842900"/>
          </a:xfrm>
          <a:prstGeom prst="rect">
            <a:avLst/>
          </a:prstGeom>
        </p:spPr>
        <p:txBody>
          <a:bodyPr spcFirstLastPara="1" wrap="square" lIns="91425" tIns="91425" rIns="91425" bIns="91425" anchor="b" anchorCtr="0">
            <a:normAutofit/>
          </a:bodyPr>
          <a:lstStyle/>
          <a:p>
            <a:pPr lvl="0" algn="l">
              <a:lnSpc>
                <a:spcPct val="115000"/>
              </a:lnSpc>
            </a:pPr>
            <a:r>
              <a:rPr lang="fr-FR" sz="3400" dirty="0"/>
              <a:t>INTELLIGENCE ARTIFICIELLE COMME LÉVIER POUR LA GESTION DU RISQUE</a:t>
            </a:r>
          </a:p>
        </p:txBody>
      </p:sp>
      <p:sp>
        <p:nvSpPr>
          <p:cNvPr id="59" name="Google Shape;59;p13"/>
          <p:cNvSpPr txBox="1">
            <a:spLocks noGrp="1"/>
          </p:cNvSpPr>
          <p:nvPr>
            <p:ph type="subTitle" idx="1"/>
          </p:nvPr>
        </p:nvSpPr>
        <p:spPr>
          <a:xfrm>
            <a:off x="410475" y="3768375"/>
            <a:ext cx="3504000" cy="1023000"/>
          </a:xfrm>
          <a:prstGeom prst="rect">
            <a:avLst/>
          </a:prstGeom>
        </p:spPr>
        <p:txBody>
          <a:bodyPr spcFirstLastPara="1" wrap="square" lIns="91425" tIns="91425" rIns="91425" bIns="91425" anchor="t" anchorCtr="0">
            <a:normAutofit fontScale="62500" lnSpcReduction="20000"/>
          </a:bodyPr>
          <a:lstStyle/>
          <a:p>
            <a:pPr marL="0" lvl="0" indent="0" algn="l" rtl="0">
              <a:lnSpc>
                <a:spcPct val="150000"/>
              </a:lnSpc>
              <a:spcBef>
                <a:spcPts val="0"/>
              </a:spcBef>
              <a:spcAft>
                <a:spcPts val="0"/>
              </a:spcAft>
              <a:buNone/>
            </a:pPr>
            <a:r>
              <a:rPr lang="en-GB" sz="1800" dirty="0">
                <a:latin typeface="Georgia"/>
                <a:ea typeface="Georgia"/>
                <a:cs typeface="Georgia"/>
                <a:sym typeface="Georgia"/>
              </a:rPr>
              <a:t>Auteur: </a:t>
            </a:r>
            <a:r>
              <a:rPr lang="fr-FR" sz="1800" dirty="0">
                <a:latin typeface="Georgia"/>
                <a:ea typeface="Georgia"/>
                <a:cs typeface="Georgia"/>
                <a:sym typeface="Georgia"/>
              </a:rPr>
              <a:t>NIAMBA BEUGRE OKESS EMMANUEL</a:t>
            </a:r>
            <a:endParaRPr sz="1800" dirty="0">
              <a:latin typeface="Georgia"/>
              <a:ea typeface="Georgia"/>
              <a:cs typeface="Georgia"/>
              <a:sym typeface="Georgia"/>
            </a:endParaRPr>
          </a:p>
          <a:p>
            <a:pPr marL="0" lvl="0" indent="0" algn="l" rtl="0">
              <a:lnSpc>
                <a:spcPct val="150000"/>
              </a:lnSpc>
              <a:spcBef>
                <a:spcPts val="0"/>
              </a:spcBef>
              <a:spcAft>
                <a:spcPts val="0"/>
              </a:spcAft>
              <a:buNone/>
            </a:pPr>
            <a:r>
              <a:rPr lang="en-GB" sz="1800" dirty="0">
                <a:latin typeface="Georgia"/>
                <a:ea typeface="Georgia"/>
                <a:cs typeface="Georgia"/>
                <a:sym typeface="Georgia"/>
              </a:rPr>
              <a:t>Tuteur Enterprise: FRANCK MARLE</a:t>
            </a:r>
            <a:endParaRPr sz="1800" dirty="0">
              <a:latin typeface="Georgia"/>
              <a:ea typeface="Georgia"/>
              <a:cs typeface="Georgia"/>
              <a:sym typeface="Georgia"/>
            </a:endParaRPr>
          </a:p>
          <a:p>
            <a:pPr marL="0" lvl="0" indent="0" algn="l" rtl="0">
              <a:lnSpc>
                <a:spcPct val="150000"/>
              </a:lnSpc>
              <a:spcBef>
                <a:spcPts val="0"/>
              </a:spcBef>
              <a:spcAft>
                <a:spcPts val="0"/>
              </a:spcAft>
              <a:buNone/>
            </a:pPr>
            <a:r>
              <a:rPr lang="fr-FR" sz="1800" dirty="0">
                <a:latin typeface="Georgia"/>
                <a:ea typeface="Georgia"/>
                <a:cs typeface="Georgia"/>
                <a:sym typeface="Georgia"/>
              </a:rPr>
              <a:t>Encadrant: ANNE-LAURE MEALIER</a:t>
            </a:r>
            <a:endParaRPr sz="1800" dirty="0">
              <a:latin typeface="Georgia"/>
              <a:ea typeface="Georgia"/>
              <a:cs typeface="Georgia"/>
              <a:sym typeface="Georgia"/>
            </a:endParaRPr>
          </a:p>
        </p:txBody>
      </p:sp>
      <p:sp>
        <p:nvSpPr>
          <p:cNvPr id="3" name="Sous-titre 2">
            <a:extLst>
              <a:ext uri="{FF2B5EF4-FFF2-40B4-BE49-F238E27FC236}">
                <a16:creationId xmlns:a16="http://schemas.microsoft.com/office/drawing/2014/main" id="{9A1F1F50-AC13-A591-E1B8-35EE3DF29BDA}"/>
              </a:ext>
            </a:extLst>
          </p:cNvPr>
          <p:cNvSpPr>
            <a:spLocks noGrp="1"/>
          </p:cNvSpPr>
          <p:nvPr>
            <p:ph type="subTitle" idx="1"/>
          </p:nvPr>
        </p:nvSpPr>
        <p:spPr/>
        <p:txBody>
          <a:bodyPr/>
          <a:lstStyle/>
          <a:p>
            <a:r>
              <a:rPr lang="fr-FR" dirty="0"/>
              <a:t>Soutenance Stage</a:t>
            </a:r>
          </a:p>
        </p:txBody>
      </p:sp>
      <p:sp>
        <p:nvSpPr>
          <p:cNvPr id="4" name="Ellipse 3">
            <a:extLst>
              <a:ext uri="{FF2B5EF4-FFF2-40B4-BE49-F238E27FC236}">
                <a16:creationId xmlns:a16="http://schemas.microsoft.com/office/drawing/2014/main" id="{29CCFE42-A753-5C53-43B4-A704E81EDC2D}"/>
              </a:ext>
            </a:extLst>
          </p:cNvPr>
          <p:cNvSpPr/>
          <p:nvPr/>
        </p:nvSpPr>
        <p:spPr>
          <a:xfrm>
            <a:off x="0" y="43047"/>
            <a:ext cx="2898935" cy="74850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CENTRALE MEDITTERANEE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4CCB87F-D893-5E5D-9E09-B9BE71AA1DFA}"/>
              </a:ext>
            </a:extLst>
          </p:cNvPr>
          <p:cNvSpPr>
            <a:spLocks noGrp="1"/>
          </p:cNvSpPr>
          <p:nvPr>
            <p:ph type="title"/>
          </p:nvPr>
        </p:nvSpPr>
        <p:spPr/>
        <p:txBody>
          <a:bodyPr>
            <a:normAutofit fontScale="90000"/>
          </a:bodyPr>
          <a:lstStyle/>
          <a:p>
            <a:r>
              <a:rPr lang="fr-FR" dirty="0"/>
              <a:t>Introduction : La gestion de risque</a:t>
            </a:r>
          </a:p>
        </p:txBody>
      </p:sp>
      <p:sp>
        <p:nvSpPr>
          <p:cNvPr id="4" name="Espace réservé du numéro de diapositive 3">
            <a:extLst>
              <a:ext uri="{FF2B5EF4-FFF2-40B4-BE49-F238E27FC236}">
                <a16:creationId xmlns:a16="http://schemas.microsoft.com/office/drawing/2014/main" id="{8A7F52FF-1419-9023-F5D7-E34C8DD1D4F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2</a:t>
            </a:fld>
            <a:endParaRPr lang="en-GB"/>
          </a:p>
        </p:txBody>
      </p:sp>
      <p:pic>
        <p:nvPicPr>
          <p:cNvPr id="5" name="Espace réservé du contenu 4" descr="Une image contenant capture d’écran, texte, ligne, Rectangle&#10;&#10;Le contenu généré par l’IA peut être incorrect.">
            <a:extLst>
              <a:ext uri="{FF2B5EF4-FFF2-40B4-BE49-F238E27FC236}">
                <a16:creationId xmlns:a16="http://schemas.microsoft.com/office/drawing/2014/main" id="{F174ABD3-F078-07FE-E7FC-596651D449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1540" y="1385971"/>
            <a:ext cx="10872172" cy="2391878"/>
          </a:xfrm>
          <a:custGeom>
            <a:avLst/>
            <a:gdLst/>
            <a:ahLst/>
            <a:cxnLst/>
            <a:rect l="l" t="t" r="r" b="b"/>
            <a:pathLst>
              <a:path w="10580201" h="2957472">
                <a:moveTo>
                  <a:pt x="88961" y="0"/>
                </a:moveTo>
                <a:lnTo>
                  <a:pt x="10491240" y="0"/>
                </a:lnTo>
                <a:cubicBezTo>
                  <a:pt x="10540372" y="0"/>
                  <a:pt x="10580201" y="39829"/>
                  <a:pt x="10580201" y="88961"/>
                </a:cubicBezTo>
                <a:lnTo>
                  <a:pt x="10580201" y="2868511"/>
                </a:lnTo>
                <a:cubicBezTo>
                  <a:pt x="10580201" y="2917643"/>
                  <a:pt x="10540372" y="2957472"/>
                  <a:pt x="10491240" y="2957472"/>
                </a:cubicBezTo>
                <a:lnTo>
                  <a:pt x="88961" y="2957472"/>
                </a:lnTo>
                <a:cubicBezTo>
                  <a:pt x="39829" y="2957472"/>
                  <a:pt x="0" y="2917643"/>
                  <a:pt x="0" y="2868511"/>
                </a:cubicBezTo>
                <a:lnTo>
                  <a:pt x="0" y="88961"/>
                </a:lnTo>
                <a:cubicBezTo>
                  <a:pt x="0" y="39829"/>
                  <a:pt x="39829" y="0"/>
                  <a:pt x="88961" y="0"/>
                </a:cubicBezTo>
                <a:close/>
              </a:path>
            </a:pathLst>
          </a:custGeom>
        </p:spPr>
      </p:pic>
      <p:sp>
        <p:nvSpPr>
          <p:cNvPr id="6" name="Ellipse 5">
            <a:extLst>
              <a:ext uri="{FF2B5EF4-FFF2-40B4-BE49-F238E27FC236}">
                <a16:creationId xmlns:a16="http://schemas.microsoft.com/office/drawing/2014/main" id="{5A2CEEB8-4A45-DF63-A527-E481B7951E12}"/>
              </a:ext>
            </a:extLst>
          </p:cNvPr>
          <p:cNvSpPr/>
          <p:nvPr/>
        </p:nvSpPr>
        <p:spPr>
          <a:xfrm>
            <a:off x="79592" y="4439920"/>
            <a:ext cx="1501976" cy="75494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3516097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311700" y="3172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solidFill>
                  <a:srgbClr val="073763"/>
                </a:solidFill>
              </a:rPr>
              <a:t>Introduction</a:t>
            </a:r>
            <a:endParaRPr>
              <a:solidFill>
                <a:srgbClr val="073763"/>
              </a:solidFill>
            </a:endParaRPr>
          </a:p>
        </p:txBody>
      </p:sp>
      <p:sp>
        <p:nvSpPr>
          <p:cNvPr id="66" name="Google Shape;66;p14"/>
          <p:cNvSpPr txBox="1">
            <a:spLocks noGrp="1"/>
          </p:cNvSpPr>
          <p:nvPr>
            <p:ph type="body" idx="1"/>
          </p:nvPr>
        </p:nvSpPr>
        <p:spPr>
          <a:xfrm>
            <a:off x="245660" y="889950"/>
            <a:ext cx="8649420" cy="3554640"/>
          </a:xfrm>
          <a:prstGeom prst="rect">
            <a:avLst/>
          </a:prstGeom>
        </p:spPr>
        <p:txBody>
          <a:bodyPr spcFirstLastPara="1" wrap="square" lIns="91425" tIns="91425" rIns="91425" bIns="91425" anchor="t" anchorCtr="0">
            <a:normAutofit fontScale="62500" lnSpcReduction="20000"/>
          </a:bodyPr>
          <a:lstStyle/>
          <a:p>
            <a:pPr marL="120650" indent="0">
              <a:buNone/>
            </a:pPr>
            <a:endParaRPr lang="fr-FR" sz="3400" b="1" dirty="0"/>
          </a:p>
          <a:p>
            <a:pPr marL="120650" indent="0">
              <a:buNone/>
            </a:pPr>
            <a:endParaRPr lang="fr-FR" sz="3400" b="1" dirty="0"/>
          </a:p>
          <a:p>
            <a:pPr marL="120650" indent="0">
              <a:buNone/>
            </a:pPr>
            <a:r>
              <a:rPr lang="fr-FR" sz="3400" b="1" dirty="0"/>
              <a:t>Situation :</a:t>
            </a:r>
          </a:p>
          <a:p>
            <a:pPr marL="120650" indent="0">
              <a:buNone/>
            </a:pPr>
            <a:r>
              <a:rPr lang="fr-FR" sz="3400" dirty="0"/>
              <a:t> </a:t>
            </a:r>
            <a:br>
              <a:rPr lang="fr-FR" sz="3400" dirty="0"/>
            </a:br>
            <a:r>
              <a:rPr lang="fr-FR" sz="3400" dirty="0"/>
              <a:t>La gestion des risques de projet est un défi  dans de nombreux secteurs.</a:t>
            </a:r>
            <a:br>
              <a:rPr lang="fr-FR" sz="3400" dirty="0"/>
            </a:br>
            <a:r>
              <a:rPr lang="fr-FR" sz="3400" dirty="0"/>
              <a:t>Les approches traditionnelles de gestion des risques, bien que efficaces, font face à des limitations structurelles.</a:t>
            </a:r>
            <a:br>
              <a:rPr lang="fr-FR" sz="3400" dirty="0"/>
            </a:br>
            <a:r>
              <a:rPr lang="fr-FR" sz="3400" dirty="0"/>
              <a:t>Les méthodes manuelles sont souvent subjectives et incomplètes.</a:t>
            </a:r>
          </a:p>
          <a:p>
            <a:pPr marL="0" lvl="0" indent="0" algn="l" rtl="0">
              <a:lnSpc>
                <a:spcPct val="115000"/>
              </a:lnSpc>
              <a:spcBef>
                <a:spcPts val="0"/>
              </a:spcBef>
              <a:spcAft>
                <a:spcPts val="0"/>
              </a:spcAft>
              <a:buNone/>
            </a:pPr>
            <a:endParaRPr sz="3200" b="1" dirty="0"/>
          </a:p>
        </p:txBody>
      </p:sp>
      <p:sp>
        <p:nvSpPr>
          <p:cNvPr id="67" name="Google Shape;67;p14"/>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3</a:t>
            </a:fld>
            <a:endParaRPr/>
          </a:p>
        </p:txBody>
      </p:sp>
      <p:sp>
        <p:nvSpPr>
          <p:cNvPr id="8" name="Ellipse 7">
            <a:extLst>
              <a:ext uri="{FF2B5EF4-FFF2-40B4-BE49-F238E27FC236}">
                <a16:creationId xmlns:a16="http://schemas.microsoft.com/office/drawing/2014/main" id="{AAAF6D9F-7964-7ACB-C4A2-68887368E640}"/>
              </a:ext>
            </a:extLst>
          </p:cNvPr>
          <p:cNvSpPr/>
          <p:nvPr/>
        </p:nvSpPr>
        <p:spPr>
          <a:xfrm>
            <a:off x="0" y="4368800"/>
            <a:ext cx="1661160" cy="7747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4">
          <a:extLst>
            <a:ext uri="{FF2B5EF4-FFF2-40B4-BE49-F238E27FC236}">
              <a16:creationId xmlns:a16="http://schemas.microsoft.com/office/drawing/2014/main" id="{78588B32-C0B3-8008-EF72-799A2EA07D4E}"/>
            </a:ext>
          </a:extLst>
        </p:cNvPr>
        <p:cNvGrpSpPr/>
        <p:nvPr/>
      </p:nvGrpSpPr>
      <p:grpSpPr>
        <a:xfrm>
          <a:off x="0" y="0"/>
          <a:ext cx="0" cy="0"/>
          <a:chOff x="0" y="0"/>
          <a:chExt cx="0" cy="0"/>
        </a:xfrm>
      </p:grpSpPr>
      <p:sp>
        <p:nvSpPr>
          <p:cNvPr id="65" name="Google Shape;65;p14">
            <a:extLst>
              <a:ext uri="{FF2B5EF4-FFF2-40B4-BE49-F238E27FC236}">
                <a16:creationId xmlns:a16="http://schemas.microsoft.com/office/drawing/2014/main" id="{95C9C639-D9C0-62D6-CF16-30137BAD7693}"/>
              </a:ext>
            </a:extLst>
          </p:cNvPr>
          <p:cNvSpPr txBox="1">
            <a:spLocks noGrp="1"/>
          </p:cNvSpPr>
          <p:nvPr>
            <p:ph type="title"/>
          </p:nvPr>
        </p:nvSpPr>
        <p:spPr>
          <a:xfrm>
            <a:off x="311700" y="3172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solidFill>
                  <a:srgbClr val="073763"/>
                </a:solidFill>
              </a:rPr>
              <a:t>Introduction</a:t>
            </a:r>
            <a:endParaRPr>
              <a:solidFill>
                <a:srgbClr val="073763"/>
              </a:solidFill>
            </a:endParaRPr>
          </a:p>
        </p:txBody>
      </p:sp>
      <p:sp>
        <p:nvSpPr>
          <p:cNvPr id="66" name="Google Shape;66;p14">
            <a:extLst>
              <a:ext uri="{FF2B5EF4-FFF2-40B4-BE49-F238E27FC236}">
                <a16:creationId xmlns:a16="http://schemas.microsoft.com/office/drawing/2014/main" id="{FB53AC58-3AF1-1F26-45D6-19B35E5C3118}"/>
              </a:ext>
            </a:extLst>
          </p:cNvPr>
          <p:cNvSpPr txBox="1">
            <a:spLocks noGrp="1"/>
          </p:cNvSpPr>
          <p:nvPr>
            <p:ph type="body" idx="1"/>
          </p:nvPr>
        </p:nvSpPr>
        <p:spPr>
          <a:xfrm>
            <a:off x="182880" y="975360"/>
            <a:ext cx="8649420" cy="3554640"/>
          </a:xfrm>
          <a:prstGeom prst="rect">
            <a:avLst/>
          </a:prstGeom>
        </p:spPr>
        <p:txBody>
          <a:bodyPr spcFirstLastPara="1" wrap="square" lIns="91425" tIns="91425" rIns="91425" bIns="91425" anchor="t" anchorCtr="0">
            <a:normAutofit fontScale="55000" lnSpcReduction="20000"/>
          </a:bodyPr>
          <a:lstStyle/>
          <a:p>
            <a:pPr marL="120650" indent="0">
              <a:buNone/>
            </a:pPr>
            <a:endParaRPr lang="fr-FR" sz="3200" dirty="0"/>
          </a:p>
          <a:p>
            <a:pPr marL="120650" indent="0">
              <a:buNone/>
            </a:pPr>
            <a:r>
              <a:rPr lang="fr-FR" sz="3200" b="1" dirty="0"/>
              <a:t>Problème :</a:t>
            </a:r>
          </a:p>
          <a:p>
            <a:pPr marL="120650" indent="0">
              <a:buNone/>
            </a:pPr>
            <a:br>
              <a:rPr lang="fr-FR" sz="3200" dirty="0"/>
            </a:br>
            <a:r>
              <a:rPr lang="fr-FR" sz="3200" dirty="0"/>
              <a:t>Les approches classiques peinent à gérer la complexité croissante des projets, en particulier dans des environnements incertains et interdépendants.</a:t>
            </a:r>
            <a:br>
              <a:rPr lang="fr-FR" sz="3200" dirty="0"/>
            </a:br>
            <a:r>
              <a:rPr lang="fr-FR" sz="3200" dirty="0"/>
              <a:t>L’identification des risques reste insuffisante, avec des biais cognitifs et une surcharge informationnelle, rendant l'analyse difficile.</a:t>
            </a:r>
            <a:br>
              <a:rPr lang="fr-FR" sz="3200" dirty="0"/>
            </a:br>
            <a:r>
              <a:rPr lang="fr-FR" sz="3200" dirty="0"/>
              <a:t>La planification des réponses aux risques souffre de la gestion isolée des risques, sans prendre en compte leurs interdépendances complexes.</a:t>
            </a:r>
          </a:p>
          <a:p>
            <a:pPr marL="120650" indent="0">
              <a:buNone/>
            </a:pPr>
            <a:endParaRPr sz="3200" b="1" dirty="0"/>
          </a:p>
        </p:txBody>
      </p:sp>
      <p:sp>
        <p:nvSpPr>
          <p:cNvPr id="67" name="Google Shape;67;p14">
            <a:extLst>
              <a:ext uri="{FF2B5EF4-FFF2-40B4-BE49-F238E27FC236}">
                <a16:creationId xmlns:a16="http://schemas.microsoft.com/office/drawing/2014/main" id="{1414F356-B742-FD26-69F5-E72B9B1EC32A}"/>
              </a:ext>
            </a:extLst>
          </p:cNvPr>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4</a:t>
            </a:fld>
            <a:endParaRPr/>
          </a:p>
        </p:txBody>
      </p:sp>
      <p:sp>
        <p:nvSpPr>
          <p:cNvPr id="8" name="Ellipse 7">
            <a:extLst>
              <a:ext uri="{FF2B5EF4-FFF2-40B4-BE49-F238E27FC236}">
                <a16:creationId xmlns:a16="http://schemas.microsoft.com/office/drawing/2014/main" id="{34282BFC-A35D-7A12-38A2-CCB4DCC3068F}"/>
              </a:ext>
            </a:extLst>
          </p:cNvPr>
          <p:cNvSpPr/>
          <p:nvPr/>
        </p:nvSpPr>
        <p:spPr>
          <a:xfrm>
            <a:off x="0" y="4287520"/>
            <a:ext cx="1661160" cy="85598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0811301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5"/>
          <p:cNvSpPr txBox="1">
            <a:spLocks noGrp="1"/>
          </p:cNvSpPr>
          <p:nvPr>
            <p:ph type="title"/>
          </p:nvPr>
        </p:nvSpPr>
        <p:spPr>
          <a:xfrm>
            <a:off x="311700" y="3172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solidFill>
                  <a:srgbClr val="073763"/>
                </a:solidFill>
              </a:rPr>
              <a:t>Introduction</a:t>
            </a:r>
            <a:endParaRPr>
              <a:solidFill>
                <a:srgbClr val="073763"/>
              </a:solidFill>
            </a:endParaRPr>
          </a:p>
        </p:txBody>
      </p:sp>
      <p:sp>
        <p:nvSpPr>
          <p:cNvPr id="73" name="Google Shape;73;p15"/>
          <p:cNvSpPr txBox="1">
            <a:spLocks noGrp="1"/>
          </p:cNvSpPr>
          <p:nvPr>
            <p:ph type="body" idx="1"/>
          </p:nvPr>
        </p:nvSpPr>
        <p:spPr>
          <a:xfrm>
            <a:off x="311700" y="1014600"/>
            <a:ext cx="8520600" cy="3515400"/>
          </a:xfrm>
          <a:prstGeom prst="rect">
            <a:avLst/>
          </a:prstGeom>
        </p:spPr>
        <p:txBody>
          <a:bodyPr spcFirstLastPara="1" wrap="square" lIns="91425" tIns="91425" rIns="91425" bIns="91425" anchor="t" anchorCtr="0">
            <a:normAutofit/>
          </a:bodyPr>
          <a:lstStyle/>
          <a:p>
            <a:pPr marL="0" lvl="0" indent="0">
              <a:buNone/>
            </a:pPr>
            <a:r>
              <a:rPr lang="fr-FR" b="1" dirty="0"/>
              <a:t>Motivation :</a:t>
            </a:r>
          </a:p>
          <a:p>
            <a:pPr marL="0" lvl="0" indent="0">
              <a:buNone/>
            </a:pPr>
            <a:endParaRPr lang="fr-FR" b="1" dirty="0"/>
          </a:p>
          <a:p>
            <a:pPr marL="0" lvl="0" indent="0">
              <a:buNone/>
            </a:pPr>
            <a:r>
              <a:rPr lang="fr-FR" dirty="0"/>
              <a:t>D’une part, les récentes avancées en </a:t>
            </a:r>
            <a:r>
              <a:rPr lang="fr-FR" b="1" dirty="0"/>
              <a:t>intelligence artificielle</a:t>
            </a:r>
            <a:r>
              <a:rPr lang="fr-FR" dirty="0"/>
              <a:t> ont permis l’émergence des </a:t>
            </a:r>
            <a:r>
              <a:rPr lang="fr-FR" b="1" dirty="0"/>
              <a:t>modèles de langage</a:t>
            </a:r>
            <a:r>
              <a:rPr lang="fr-FR" dirty="0"/>
              <a:t> (LLMs), capables de comprendre, de produire et de traiter une grande quantité de textes. Nous souhaitons exploiter cette opportunité pour, à partir de documents techniques, traiter les risques de manière minutieuse, en cherchant à atteindre l'exhaustivité.</a:t>
            </a:r>
            <a:br>
              <a:rPr lang="fr-FR" dirty="0"/>
            </a:br>
            <a:r>
              <a:rPr lang="fr-FR" dirty="0"/>
              <a:t>se situe</a:t>
            </a:r>
            <a:endParaRPr dirty="0"/>
          </a:p>
        </p:txBody>
      </p:sp>
      <p:sp>
        <p:nvSpPr>
          <p:cNvPr id="74" name="Google Shape;74;p15"/>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5</a:t>
            </a:fld>
            <a:endParaRPr/>
          </a:p>
        </p:txBody>
      </p:sp>
      <p:sp>
        <p:nvSpPr>
          <p:cNvPr id="3" name="Ellipse 2">
            <a:extLst>
              <a:ext uri="{FF2B5EF4-FFF2-40B4-BE49-F238E27FC236}">
                <a16:creationId xmlns:a16="http://schemas.microsoft.com/office/drawing/2014/main" id="{3F4DF07B-B221-B3F0-0587-D0428E360EA4}"/>
              </a:ext>
            </a:extLst>
          </p:cNvPr>
          <p:cNvSpPr/>
          <p:nvPr/>
        </p:nvSpPr>
        <p:spPr>
          <a:xfrm>
            <a:off x="0" y="4221480"/>
            <a:ext cx="1661160" cy="9220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2F10E10E-9B00-3794-896B-12D9A9848029}"/>
            </a:ext>
          </a:extLst>
        </p:cNvPr>
        <p:cNvGrpSpPr/>
        <p:nvPr/>
      </p:nvGrpSpPr>
      <p:grpSpPr>
        <a:xfrm>
          <a:off x="0" y="0"/>
          <a:ext cx="0" cy="0"/>
          <a:chOff x="0" y="0"/>
          <a:chExt cx="0" cy="0"/>
        </a:xfrm>
      </p:grpSpPr>
      <p:sp>
        <p:nvSpPr>
          <p:cNvPr id="72" name="Google Shape;72;p15">
            <a:extLst>
              <a:ext uri="{FF2B5EF4-FFF2-40B4-BE49-F238E27FC236}">
                <a16:creationId xmlns:a16="http://schemas.microsoft.com/office/drawing/2014/main" id="{0522A973-560C-5F7B-597A-7DA65E3594DD}"/>
              </a:ext>
            </a:extLst>
          </p:cNvPr>
          <p:cNvSpPr txBox="1">
            <a:spLocks noGrp="1"/>
          </p:cNvSpPr>
          <p:nvPr>
            <p:ph type="title"/>
          </p:nvPr>
        </p:nvSpPr>
        <p:spPr>
          <a:xfrm>
            <a:off x="311700" y="3172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solidFill>
                  <a:srgbClr val="073763"/>
                </a:solidFill>
              </a:rPr>
              <a:t>Introduction</a:t>
            </a:r>
            <a:endParaRPr>
              <a:solidFill>
                <a:srgbClr val="073763"/>
              </a:solidFill>
            </a:endParaRPr>
          </a:p>
        </p:txBody>
      </p:sp>
      <p:sp>
        <p:nvSpPr>
          <p:cNvPr id="73" name="Google Shape;73;p15">
            <a:extLst>
              <a:ext uri="{FF2B5EF4-FFF2-40B4-BE49-F238E27FC236}">
                <a16:creationId xmlns:a16="http://schemas.microsoft.com/office/drawing/2014/main" id="{0A242FDE-B05E-A050-961D-0B166DD134C9}"/>
              </a:ext>
            </a:extLst>
          </p:cNvPr>
          <p:cNvSpPr txBox="1">
            <a:spLocks noGrp="1"/>
          </p:cNvSpPr>
          <p:nvPr>
            <p:ph type="body" idx="1"/>
          </p:nvPr>
        </p:nvSpPr>
        <p:spPr>
          <a:xfrm>
            <a:off x="311700" y="1014600"/>
            <a:ext cx="8520600" cy="3515400"/>
          </a:xfrm>
          <a:prstGeom prst="rect">
            <a:avLst/>
          </a:prstGeom>
        </p:spPr>
        <p:txBody>
          <a:bodyPr spcFirstLastPara="1" wrap="square" lIns="91425" tIns="91425" rIns="91425" bIns="91425" anchor="t" anchorCtr="0">
            <a:normAutofit/>
          </a:bodyPr>
          <a:lstStyle/>
          <a:p>
            <a:pPr marL="0" lvl="0" indent="0">
              <a:buNone/>
            </a:pPr>
            <a:r>
              <a:rPr lang="fr-FR" b="1" dirty="0"/>
              <a:t>Motivation</a:t>
            </a:r>
            <a:r>
              <a:rPr lang="fr-FR" dirty="0"/>
              <a:t> :</a:t>
            </a:r>
          </a:p>
          <a:p>
            <a:pPr marL="0" lvl="0" indent="0">
              <a:buNone/>
            </a:pPr>
            <a:endParaRPr lang="fr-FR" dirty="0"/>
          </a:p>
          <a:p>
            <a:pPr marL="0" lvl="0" indent="0">
              <a:buNone/>
            </a:pPr>
            <a:r>
              <a:rPr lang="fr-FR" dirty="0"/>
              <a:t>D'autre part, en ce qui concerne la </a:t>
            </a:r>
            <a:r>
              <a:rPr lang="fr-FR" b="1" dirty="0"/>
              <a:t>recommandation d'actions</a:t>
            </a:r>
            <a:r>
              <a:rPr lang="fr-FR" dirty="0"/>
              <a:t>, le </a:t>
            </a:r>
            <a:r>
              <a:rPr lang="fr-FR" b="1" dirty="0"/>
              <a:t>machine Learning</a:t>
            </a:r>
            <a:r>
              <a:rPr lang="fr-FR" dirty="0"/>
              <a:t> est reconnu pour sa capacité à capter les </a:t>
            </a:r>
            <a:r>
              <a:rPr lang="fr-FR" b="1" dirty="0"/>
              <a:t>patterns cachés</a:t>
            </a:r>
            <a:r>
              <a:rPr lang="fr-FR" dirty="0"/>
              <a:t> entre les données. Nous voulons en tirer parti pour prédire les types d'actions les plus adaptés à chaque risque, en fonction du réseau de risques dans lequel il </a:t>
            </a:r>
          </a:p>
          <a:p>
            <a:pPr marL="0" lvl="0" indent="0">
              <a:buNone/>
            </a:pPr>
            <a:endParaRPr lang="fr-FR" b="1" dirty="0"/>
          </a:p>
        </p:txBody>
      </p:sp>
      <p:sp>
        <p:nvSpPr>
          <p:cNvPr id="74" name="Google Shape;74;p15">
            <a:extLst>
              <a:ext uri="{FF2B5EF4-FFF2-40B4-BE49-F238E27FC236}">
                <a16:creationId xmlns:a16="http://schemas.microsoft.com/office/drawing/2014/main" id="{5C1107C7-CF7A-3F92-5E89-BAC7904A9BA1}"/>
              </a:ext>
            </a:extLst>
          </p:cNvPr>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6</a:t>
            </a:fld>
            <a:endParaRPr/>
          </a:p>
        </p:txBody>
      </p:sp>
      <p:sp>
        <p:nvSpPr>
          <p:cNvPr id="3" name="Ellipse 2">
            <a:extLst>
              <a:ext uri="{FF2B5EF4-FFF2-40B4-BE49-F238E27FC236}">
                <a16:creationId xmlns:a16="http://schemas.microsoft.com/office/drawing/2014/main" id="{A79CC85C-78A9-25CB-976F-4E4E427DB197}"/>
              </a:ext>
            </a:extLst>
          </p:cNvPr>
          <p:cNvSpPr/>
          <p:nvPr/>
        </p:nvSpPr>
        <p:spPr>
          <a:xfrm>
            <a:off x="0" y="4221480"/>
            <a:ext cx="1661160" cy="9220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1319416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6"/>
          <p:cNvSpPr txBox="1">
            <a:spLocks noGrp="1"/>
          </p:cNvSpPr>
          <p:nvPr>
            <p:ph type="title"/>
          </p:nvPr>
        </p:nvSpPr>
        <p:spPr>
          <a:xfrm>
            <a:off x="311700" y="3172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dirty="0"/>
              <a:t>Introduction</a:t>
            </a:r>
            <a:endParaRPr dirty="0"/>
          </a:p>
        </p:txBody>
      </p:sp>
      <p:sp>
        <p:nvSpPr>
          <p:cNvPr id="80" name="Google Shape;80;p16"/>
          <p:cNvSpPr txBox="1">
            <a:spLocks noGrp="1"/>
          </p:cNvSpPr>
          <p:nvPr>
            <p:ph type="body" idx="1"/>
          </p:nvPr>
        </p:nvSpPr>
        <p:spPr>
          <a:xfrm>
            <a:off x="311700" y="1087181"/>
            <a:ext cx="8520600" cy="3435000"/>
          </a:xfrm>
          <a:prstGeom prst="rect">
            <a:avLst/>
          </a:prstGeom>
        </p:spPr>
        <p:txBody>
          <a:bodyPr spcFirstLastPara="1" wrap="square" lIns="91425" tIns="91425" rIns="91425" bIns="91425" anchor="t" anchorCtr="0">
            <a:normAutofit/>
          </a:bodyPr>
          <a:lstStyle/>
          <a:p>
            <a:pPr marL="120650" lvl="0" indent="0">
              <a:buNone/>
            </a:pPr>
            <a:endParaRPr lang="fr-FR" b="1" dirty="0"/>
          </a:p>
          <a:p>
            <a:pPr marL="120650" lvl="0" indent="0">
              <a:buNone/>
            </a:pPr>
            <a:r>
              <a:rPr lang="fr-FR" b="1" dirty="0"/>
              <a:t>Objectif :</a:t>
            </a:r>
          </a:p>
          <a:p>
            <a:pPr marL="120650" lvl="0" indent="0">
              <a:buNone/>
            </a:pPr>
            <a:br>
              <a:rPr lang="fr-FR" dirty="0"/>
            </a:br>
            <a:r>
              <a:rPr lang="fr-FR" dirty="0"/>
              <a:t>Dans un premier temps, l'objectif est de </a:t>
            </a:r>
            <a:r>
              <a:rPr lang="fr-FR" b="1" dirty="0"/>
              <a:t>concevoir et d'évaluer un pipeline d'agents LLMs</a:t>
            </a:r>
            <a:r>
              <a:rPr lang="fr-FR" dirty="0"/>
              <a:t> pour l'identification des risques à partir de documents techniques.</a:t>
            </a:r>
            <a:br>
              <a:rPr lang="fr-FR" dirty="0"/>
            </a:br>
            <a:r>
              <a:rPr lang="fr-FR" dirty="0"/>
              <a:t>Dans un second temps, nous développerons une approche de </a:t>
            </a:r>
            <a:r>
              <a:rPr lang="fr-FR" b="1" dirty="0"/>
              <a:t>recommandation d'actions basée sur le machine Learning</a:t>
            </a:r>
            <a:r>
              <a:rPr lang="fr-FR" dirty="0"/>
              <a:t>, en prenant en compte les </a:t>
            </a:r>
            <a:r>
              <a:rPr lang="fr-FR" b="1" dirty="0"/>
              <a:t>interdépendances entre les risques</a:t>
            </a:r>
            <a:r>
              <a:rPr lang="fr-FR" dirty="0"/>
              <a:t> et les actions dans la formulation des réponses adaptées</a:t>
            </a:r>
            <a:endParaRPr sz="1700" dirty="0">
              <a:solidFill>
                <a:schemeClr val="dk1"/>
              </a:solidFill>
            </a:endParaRPr>
          </a:p>
        </p:txBody>
      </p:sp>
      <p:sp>
        <p:nvSpPr>
          <p:cNvPr id="81" name="Google Shape;81;p16"/>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7</a:t>
            </a:fld>
            <a:endParaRPr/>
          </a:p>
        </p:txBody>
      </p:sp>
      <p:sp>
        <p:nvSpPr>
          <p:cNvPr id="3" name="Ellipse 2">
            <a:extLst>
              <a:ext uri="{FF2B5EF4-FFF2-40B4-BE49-F238E27FC236}">
                <a16:creationId xmlns:a16="http://schemas.microsoft.com/office/drawing/2014/main" id="{106E7F8D-B44C-C411-C0BD-FFA595C617E6}"/>
              </a:ext>
            </a:extLst>
          </p:cNvPr>
          <p:cNvSpPr/>
          <p:nvPr/>
        </p:nvSpPr>
        <p:spPr>
          <a:xfrm>
            <a:off x="0" y="4221480"/>
            <a:ext cx="1661160" cy="9220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7"/>
          <p:cNvSpPr txBox="1">
            <a:spLocks noGrp="1"/>
          </p:cNvSpPr>
          <p:nvPr>
            <p:ph type="title"/>
          </p:nvPr>
        </p:nvSpPr>
        <p:spPr>
          <a:xfrm>
            <a:off x="76408" y="243068"/>
            <a:ext cx="8713650" cy="669171"/>
          </a:xfrm>
          <a:prstGeom prst="rect">
            <a:avLst/>
          </a:prstGeom>
        </p:spPr>
        <p:txBody>
          <a:bodyPr spcFirstLastPara="1" wrap="square" lIns="91425" tIns="91425" rIns="91425" bIns="91425" anchor="t" anchorCtr="0">
            <a:normAutofit fontScale="90000"/>
          </a:bodyPr>
          <a:lstStyle/>
          <a:p>
            <a:pPr lvl="0"/>
            <a:r>
              <a:rPr lang="fr-FR" dirty="0"/>
              <a:t>Limites des approches traditionnelles de gestion des risques : Identification des risques </a:t>
            </a:r>
            <a:endParaRPr lang="en-GB" dirty="0"/>
          </a:p>
        </p:txBody>
      </p:sp>
      <p:sp>
        <p:nvSpPr>
          <p:cNvPr id="87" name="Google Shape;87;p17"/>
          <p:cNvSpPr txBox="1">
            <a:spLocks noGrp="1"/>
          </p:cNvSpPr>
          <p:nvPr>
            <p:ph type="body" idx="1"/>
          </p:nvPr>
        </p:nvSpPr>
        <p:spPr>
          <a:xfrm>
            <a:off x="324091" y="1159192"/>
            <a:ext cx="8328792" cy="3169740"/>
          </a:xfrm>
          <a:prstGeom prst="rect">
            <a:avLst/>
          </a:prstGeom>
        </p:spPr>
        <p:txBody>
          <a:bodyPr spcFirstLastPara="1" wrap="square" lIns="91425" tIns="91425" rIns="91425" bIns="91425" anchor="t" anchorCtr="0">
            <a:normAutofit fontScale="92500" lnSpcReduction="10000"/>
          </a:bodyPr>
          <a:lstStyle/>
          <a:p>
            <a:pPr marL="120650" indent="0">
              <a:buNone/>
            </a:pPr>
            <a:r>
              <a:rPr lang="fr-FR" dirty="0"/>
              <a:t>Les méthodes traditionnelles d’identification des risques, bien qu’ayant prouvé leur efficacité dans certains contextes, présentent plusieurs limites. Parmi ces méthodes, on retrouve :</a:t>
            </a:r>
          </a:p>
          <a:p>
            <a:pPr marL="120650" indent="0">
              <a:buNone/>
            </a:pPr>
            <a:r>
              <a:rPr lang="fr-FR" b="1" dirty="0"/>
              <a:t>Brainstorming et analyse qualitative :</a:t>
            </a:r>
            <a:br>
              <a:rPr lang="fr-FR" dirty="0"/>
            </a:br>
            <a:r>
              <a:rPr lang="fr-FR" dirty="0"/>
              <a:t>Le </a:t>
            </a:r>
            <a:r>
              <a:rPr lang="fr-FR" b="1" dirty="0"/>
              <a:t>brainstorming</a:t>
            </a:r>
            <a:r>
              <a:rPr lang="fr-FR" dirty="0"/>
              <a:t> est l'une des techniques les plus courantes pour l’identification des risques. Cependant, elle souffre de </a:t>
            </a:r>
            <a:r>
              <a:rPr lang="fr-FR" b="1" dirty="0"/>
              <a:t>biais cognitifs</a:t>
            </a:r>
            <a:r>
              <a:rPr lang="fr-FR" dirty="0"/>
              <a:t> comme l'</a:t>
            </a:r>
            <a:r>
              <a:rPr lang="fr-FR" b="1" dirty="0"/>
              <a:t>ancrage</a:t>
            </a:r>
            <a:r>
              <a:rPr lang="fr-FR" dirty="0"/>
              <a:t> ou la </a:t>
            </a:r>
            <a:r>
              <a:rPr lang="fr-FR" b="1" dirty="0"/>
              <a:t>sous-estimation des risques rares</a:t>
            </a:r>
            <a:r>
              <a:rPr lang="fr-FR" dirty="0"/>
              <a:t>. </a:t>
            </a:r>
          </a:p>
          <a:p>
            <a:pPr marL="120650" indent="0">
              <a:buNone/>
            </a:pPr>
            <a:r>
              <a:rPr lang="fr-FR" b="1" dirty="0"/>
              <a:t>Limite :</a:t>
            </a:r>
            <a:r>
              <a:rPr lang="fr-FR" dirty="0"/>
              <a:t> Cette méthode conduit à des </a:t>
            </a:r>
            <a:r>
              <a:rPr lang="fr-FR" b="1" dirty="0"/>
              <a:t>cartographies de risques incomplètes</a:t>
            </a:r>
            <a:r>
              <a:rPr lang="fr-FR" dirty="0"/>
              <a:t> et souvent influencées par l'expérience et la vision de quelques individus. Cela peut entraîner une </a:t>
            </a:r>
            <a:r>
              <a:rPr lang="fr-FR" b="1" dirty="0"/>
              <a:t>omission de certains risques critiques</a:t>
            </a:r>
            <a:r>
              <a:rPr lang="fr-FR" dirty="0"/>
              <a:t>, comme ceux liés à des événements peu fréquents ou complexes</a:t>
            </a:r>
          </a:p>
          <a:p>
            <a:pPr marL="0" lvl="0" indent="0" algn="l" rtl="0">
              <a:lnSpc>
                <a:spcPct val="115000"/>
              </a:lnSpc>
              <a:spcBef>
                <a:spcPts val="0"/>
              </a:spcBef>
              <a:spcAft>
                <a:spcPts val="0"/>
              </a:spcAft>
              <a:buNone/>
            </a:pPr>
            <a:endParaRPr dirty="0">
              <a:solidFill>
                <a:schemeClr val="dk1"/>
              </a:solidFill>
            </a:endParaRPr>
          </a:p>
        </p:txBody>
      </p:sp>
      <p:sp>
        <p:nvSpPr>
          <p:cNvPr id="88" name="Google Shape;88;p17"/>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8</a:t>
            </a:fld>
            <a:endParaRPr/>
          </a:p>
        </p:txBody>
      </p:sp>
      <p:sp>
        <p:nvSpPr>
          <p:cNvPr id="3" name="Ellipse 2">
            <a:extLst>
              <a:ext uri="{FF2B5EF4-FFF2-40B4-BE49-F238E27FC236}">
                <a16:creationId xmlns:a16="http://schemas.microsoft.com/office/drawing/2014/main" id="{EF54B494-9399-117F-D68A-0B99F5236C5A}"/>
              </a:ext>
            </a:extLst>
          </p:cNvPr>
          <p:cNvSpPr/>
          <p:nvPr/>
        </p:nvSpPr>
        <p:spPr>
          <a:xfrm>
            <a:off x="0" y="4221480"/>
            <a:ext cx="1661160" cy="9220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5">
          <a:extLst>
            <a:ext uri="{FF2B5EF4-FFF2-40B4-BE49-F238E27FC236}">
              <a16:creationId xmlns:a16="http://schemas.microsoft.com/office/drawing/2014/main" id="{08157930-BB70-ECE0-A0F3-960E9919CB40}"/>
            </a:ext>
          </a:extLst>
        </p:cNvPr>
        <p:cNvGrpSpPr/>
        <p:nvPr/>
      </p:nvGrpSpPr>
      <p:grpSpPr>
        <a:xfrm>
          <a:off x="0" y="0"/>
          <a:ext cx="0" cy="0"/>
          <a:chOff x="0" y="0"/>
          <a:chExt cx="0" cy="0"/>
        </a:xfrm>
      </p:grpSpPr>
      <p:sp>
        <p:nvSpPr>
          <p:cNvPr id="86" name="Google Shape;86;p17">
            <a:extLst>
              <a:ext uri="{FF2B5EF4-FFF2-40B4-BE49-F238E27FC236}">
                <a16:creationId xmlns:a16="http://schemas.microsoft.com/office/drawing/2014/main" id="{2786847C-F2EC-884C-6021-2873C98F61CF}"/>
              </a:ext>
            </a:extLst>
          </p:cNvPr>
          <p:cNvSpPr txBox="1">
            <a:spLocks noGrp="1"/>
          </p:cNvSpPr>
          <p:nvPr>
            <p:ph type="title"/>
          </p:nvPr>
        </p:nvSpPr>
        <p:spPr>
          <a:xfrm>
            <a:off x="76408" y="243068"/>
            <a:ext cx="8713650" cy="669171"/>
          </a:xfrm>
          <a:prstGeom prst="rect">
            <a:avLst/>
          </a:prstGeom>
        </p:spPr>
        <p:txBody>
          <a:bodyPr spcFirstLastPara="1" wrap="square" lIns="91425" tIns="91425" rIns="91425" bIns="91425" anchor="t" anchorCtr="0">
            <a:normAutofit fontScale="90000"/>
          </a:bodyPr>
          <a:lstStyle/>
          <a:p>
            <a:pPr lvl="0"/>
            <a:r>
              <a:rPr lang="fr-FR" dirty="0"/>
              <a:t>Limites des approches traditionnelles de gestion des risques : Identification des risques </a:t>
            </a:r>
            <a:endParaRPr lang="en-GB" dirty="0"/>
          </a:p>
        </p:txBody>
      </p:sp>
      <p:sp>
        <p:nvSpPr>
          <p:cNvPr id="87" name="Google Shape;87;p17">
            <a:extLst>
              <a:ext uri="{FF2B5EF4-FFF2-40B4-BE49-F238E27FC236}">
                <a16:creationId xmlns:a16="http://schemas.microsoft.com/office/drawing/2014/main" id="{C7F53D75-3E8B-5A1A-B8BA-CC5A1B032A64}"/>
              </a:ext>
            </a:extLst>
          </p:cNvPr>
          <p:cNvSpPr txBox="1">
            <a:spLocks noGrp="1"/>
          </p:cNvSpPr>
          <p:nvPr>
            <p:ph type="body" idx="1"/>
          </p:nvPr>
        </p:nvSpPr>
        <p:spPr>
          <a:xfrm>
            <a:off x="324091" y="1159192"/>
            <a:ext cx="8328792" cy="3169740"/>
          </a:xfrm>
          <a:prstGeom prst="rect">
            <a:avLst/>
          </a:prstGeom>
        </p:spPr>
        <p:txBody>
          <a:bodyPr spcFirstLastPara="1" wrap="square" lIns="91425" tIns="91425" rIns="91425" bIns="91425" anchor="t" anchorCtr="0">
            <a:normAutofit/>
          </a:bodyPr>
          <a:lstStyle/>
          <a:p>
            <a:pPr marL="120650" indent="0">
              <a:buNone/>
            </a:pPr>
            <a:r>
              <a:rPr lang="fr-FR" b="1" dirty="0"/>
              <a:t>Analyse documentaire manuelle (revue de documents techniques) :</a:t>
            </a:r>
            <a:br>
              <a:rPr lang="fr-FR" dirty="0"/>
            </a:br>
            <a:r>
              <a:rPr lang="fr-FR" dirty="0"/>
              <a:t>L'analyse </a:t>
            </a:r>
            <a:r>
              <a:rPr lang="fr-FR" b="1" dirty="0"/>
              <a:t>manuelle des documents techniques</a:t>
            </a:r>
            <a:r>
              <a:rPr lang="fr-FR" dirty="0"/>
              <a:t> (rapports de chantier, cahiers des charges, plans de sécurité) est une méthode courante dans l’identification des risques. Toutefois, cette approche dépend fortement de l’expertise de l’individu qui analyse les documents, ce qui peut entraîner des </a:t>
            </a:r>
            <a:r>
              <a:rPr lang="fr-FR" b="1" dirty="0"/>
              <a:t>biais</a:t>
            </a:r>
            <a:r>
              <a:rPr lang="fr-FR" dirty="0"/>
              <a:t> ou des </a:t>
            </a:r>
            <a:r>
              <a:rPr lang="fr-FR" b="1" dirty="0"/>
              <a:t>omissions</a:t>
            </a:r>
            <a:r>
              <a:rPr lang="fr-FR" dirty="0"/>
              <a:t>.</a:t>
            </a:r>
          </a:p>
          <a:p>
            <a:pPr marL="120650" indent="0">
              <a:buNone/>
            </a:pPr>
            <a:r>
              <a:rPr lang="fr-FR" b="1" dirty="0"/>
              <a:t>Limite :</a:t>
            </a:r>
            <a:r>
              <a:rPr lang="fr-FR" dirty="0"/>
              <a:t> La gestion des </a:t>
            </a:r>
            <a:r>
              <a:rPr lang="fr-FR" b="1" dirty="0"/>
              <a:t>surcharges informationnelles</a:t>
            </a:r>
            <a:r>
              <a:rPr lang="fr-FR" dirty="0"/>
              <a:t> dans des projets complexes est particulièrement problématique. Par exemple, dans un projet de </a:t>
            </a:r>
            <a:r>
              <a:rPr lang="fr-FR" b="1" dirty="0"/>
              <a:t>grande infrastructure</a:t>
            </a:r>
            <a:r>
              <a:rPr lang="fr-FR" dirty="0"/>
              <a:t>, la quantité de documents techniques à analyser peut rendre cette méthode </a:t>
            </a:r>
            <a:r>
              <a:rPr lang="fr-FR" b="1" dirty="0"/>
              <a:t>lente</a:t>
            </a:r>
            <a:r>
              <a:rPr lang="fr-FR" dirty="0"/>
              <a:t> et </a:t>
            </a:r>
            <a:r>
              <a:rPr lang="fr-FR" b="1" dirty="0"/>
              <a:t>inefficace</a:t>
            </a:r>
            <a:endParaRPr lang="fr-FR" dirty="0"/>
          </a:p>
          <a:p>
            <a:pPr marL="0" lvl="0" indent="0" algn="l" rtl="0">
              <a:lnSpc>
                <a:spcPct val="115000"/>
              </a:lnSpc>
              <a:spcBef>
                <a:spcPts val="0"/>
              </a:spcBef>
              <a:spcAft>
                <a:spcPts val="0"/>
              </a:spcAft>
              <a:buNone/>
            </a:pPr>
            <a:endParaRPr dirty="0">
              <a:solidFill>
                <a:schemeClr val="dk1"/>
              </a:solidFill>
            </a:endParaRPr>
          </a:p>
        </p:txBody>
      </p:sp>
      <p:sp>
        <p:nvSpPr>
          <p:cNvPr id="88" name="Google Shape;88;p17">
            <a:extLst>
              <a:ext uri="{FF2B5EF4-FFF2-40B4-BE49-F238E27FC236}">
                <a16:creationId xmlns:a16="http://schemas.microsoft.com/office/drawing/2014/main" id="{B81DA0AB-8DCB-57D7-D3DF-3A5B736DC490}"/>
              </a:ext>
            </a:extLst>
          </p:cNvPr>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9</a:t>
            </a:fld>
            <a:endParaRPr/>
          </a:p>
        </p:txBody>
      </p:sp>
      <p:sp>
        <p:nvSpPr>
          <p:cNvPr id="3" name="Ellipse 2">
            <a:extLst>
              <a:ext uri="{FF2B5EF4-FFF2-40B4-BE49-F238E27FC236}">
                <a16:creationId xmlns:a16="http://schemas.microsoft.com/office/drawing/2014/main" id="{A1497FAC-FC2B-2A58-86BB-132FBC97EE34}"/>
              </a:ext>
            </a:extLst>
          </p:cNvPr>
          <p:cNvSpPr/>
          <p:nvPr/>
        </p:nvSpPr>
        <p:spPr>
          <a:xfrm>
            <a:off x="0" y="4221480"/>
            <a:ext cx="1661160" cy="9220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832951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5">
          <a:extLst>
            <a:ext uri="{FF2B5EF4-FFF2-40B4-BE49-F238E27FC236}">
              <a16:creationId xmlns:a16="http://schemas.microsoft.com/office/drawing/2014/main" id="{A46D9D5F-5BA6-0352-88F2-3FC772643A36}"/>
            </a:ext>
          </a:extLst>
        </p:cNvPr>
        <p:cNvGrpSpPr/>
        <p:nvPr/>
      </p:nvGrpSpPr>
      <p:grpSpPr>
        <a:xfrm>
          <a:off x="0" y="0"/>
          <a:ext cx="0" cy="0"/>
          <a:chOff x="0" y="0"/>
          <a:chExt cx="0" cy="0"/>
        </a:xfrm>
      </p:grpSpPr>
      <p:sp>
        <p:nvSpPr>
          <p:cNvPr id="86" name="Google Shape;86;p17">
            <a:extLst>
              <a:ext uri="{FF2B5EF4-FFF2-40B4-BE49-F238E27FC236}">
                <a16:creationId xmlns:a16="http://schemas.microsoft.com/office/drawing/2014/main" id="{58478BE0-788D-3E7F-9247-45E4E589212E}"/>
              </a:ext>
            </a:extLst>
          </p:cNvPr>
          <p:cNvSpPr txBox="1">
            <a:spLocks noGrp="1"/>
          </p:cNvSpPr>
          <p:nvPr>
            <p:ph type="title"/>
          </p:nvPr>
        </p:nvSpPr>
        <p:spPr>
          <a:xfrm>
            <a:off x="76408" y="243068"/>
            <a:ext cx="8713650" cy="669171"/>
          </a:xfrm>
          <a:prstGeom prst="rect">
            <a:avLst/>
          </a:prstGeom>
        </p:spPr>
        <p:txBody>
          <a:bodyPr spcFirstLastPara="1" wrap="square" lIns="91425" tIns="91425" rIns="91425" bIns="91425" anchor="t" anchorCtr="0">
            <a:normAutofit fontScale="90000"/>
          </a:bodyPr>
          <a:lstStyle/>
          <a:p>
            <a:pPr lvl="0"/>
            <a:r>
              <a:rPr lang="fr-FR" dirty="0"/>
              <a:t>Limites des approches traditionnelles de gestion des risques :Recommandation d’actions</a:t>
            </a:r>
            <a:endParaRPr lang="en-GB" dirty="0"/>
          </a:p>
        </p:txBody>
      </p:sp>
      <p:sp>
        <p:nvSpPr>
          <p:cNvPr id="87" name="Google Shape;87;p17">
            <a:extLst>
              <a:ext uri="{FF2B5EF4-FFF2-40B4-BE49-F238E27FC236}">
                <a16:creationId xmlns:a16="http://schemas.microsoft.com/office/drawing/2014/main" id="{4790A12A-6C10-F0DB-E5FF-60829FF100BF}"/>
              </a:ext>
            </a:extLst>
          </p:cNvPr>
          <p:cNvSpPr txBox="1">
            <a:spLocks noGrp="1"/>
          </p:cNvSpPr>
          <p:nvPr>
            <p:ph type="body" idx="1"/>
          </p:nvPr>
        </p:nvSpPr>
        <p:spPr>
          <a:xfrm>
            <a:off x="324091" y="1159192"/>
            <a:ext cx="8328792" cy="3169740"/>
          </a:xfrm>
          <a:prstGeom prst="rect">
            <a:avLst/>
          </a:prstGeom>
        </p:spPr>
        <p:txBody>
          <a:bodyPr spcFirstLastPara="1" wrap="square" lIns="91425" tIns="91425" rIns="91425" bIns="91425" anchor="t" anchorCtr="0">
            <a:normAutofit fontScale="92500"/>
          </a:bodyPr>
          <a:lstStyle/>
          <a:p>
            <a:pPr marL="0" lvl="0" indent="0">
              <a:buNone/>
            </a:pPr>
            <a:r>
              <a:rPr lang="fr-FR" dirty="0"/>
              <a:t>Les actions de réponse aux risques sont généralement prises de manière </a:t>
            </a:r>
            <a:r>
              <a:rPr lang="fr-FR" b="1" dirty="0"/>
              <a:t>indépendante</a:t>
            </a:r>
            <a:r>
              <a:rPr lang="fr-FR" dirty="0"/>
              <a:t>, en se basant sur des critères tels que la </a:t>
            </a:r>
            <a:r>
              <a:rPr lang="fr-FR" b="1" dirty="0"/>
              <a:t>probabilité</a:t>
            </a:r>
            <a:r>
              <a:rPr lang="fr-FR" dirty="0"/>
              <a:t> et la </a:t>
            </a:r>
            <a:r>
              <a:rPr lang="fr-FR" b="1" dirty="0"/>
              <a:t>gravité</a:t>
            </a:r>
            <a:r>
              <a:rPr lang="fr-FR" dirty="0"/>
              <a:t> des risques. Cette approche suit un processus linéaire où chaque risque est traité de manière isolée</a:t>
            </a:r>
          </a:p>
          <a:p>
            <a:pPr marL="0" lvl="0" indent="0">
              <a:buNone/>
            </a:pPr>
            <a:endParaRPr lang="fr-FR" dirty="0">
              <a:solidFill>
                <a:schemeClr val="dk1"/>
              </a:solidFill>
            </a:endParaRPr>
          </a:p>
          <a:p>
            <a:pPr marL="0" lvl="0" indent="0">
              <a:buNone/>
            </a:pPr>
            <a:r>
              <a:rPr lang="fr-FR" dirty="0"/>
              <a:t>Cette méthode ignore les </a:t>
            </a:r>
            <a:r>
              <a:rPr lang="fr-FR" b="1" dirty="0"/>
              <a:t>interdépendances</a:t>
            </a:r>
            <a:r>
              <a:rPr lang="fr-FR" dirty="0"/>
              <a:t> entre les risques, ce qui peut entraîner des actions </a:t>
            </a:r>
            <a:r>
              <a:rPr lang="fr-FR" b="1" dirty="0"/>
              <a:t>incohérentes</a:t>
            </a:r>
            <a:r>
              <a:rPr lang="fr-FR" dirty="0"/>
              <a:t> ou </a:t>
            </a:r>
            <a:r>
              <a:rPr lang="fr-FR" b="1" dirty="0"/>
              <a:t>contre-productives</a:t>
            </a:r>
            <a:r>
              <a:rPr lang="fr-FR" dirty="0"/>
              <a:t>. Par exemple, une action pour </a:t>
            </a:r>
            <a:r>
              <a:rPr lang="fr-FR" b="1" dirty="0"/>
              <a:t>réduire un risque</a:t>
            </a:r>
            <a:r>
              <a:rPr lang="fr-FR" dirty="0"/>
              <a:t> peut en </a:t>
            </a:r>
            <a:r>
              <a:rPr lang="fr-FR" b="1" dirty="0"/>
              <a:t>accentuer un autre</a:t>
            </a:r>
            <a:r>
              <a:rPr lang="fr-FR" dirty="0"/>
              <a:t>, si l'impact systémique des risques n'est pas pris en compte. De plus, les </a:t>
            </a:r>
            <a:r>
              <a:rPr lang="fr-FR" b="1" dirty="0"/>
              <a:t>actions prédéfinies</a:t>
            </a:r>
            <a:r>
              <a:rPr lang="fr-FR" dirty="0"/>
              <a:t> ne tiennent pas compte de la </a:t>
            </a:r>
            <a:r>
              <a:rPr lang="fr-FR" b="1" dirty="0"/>
              <a:t>dynamique complexe</a:t>
            </a:r>
            <a:r>
              <a:rPr lang="fr-FR" dirty="0"/>
              <a:t> entre les risques, ce qui limite leur efficacité</a:t>
            </a:r>
            <a:endParaRPr dirty="0">
              <a:solidFill>
                <a:schemeClr val="dk1"/>
              </a:solidFill>
            </a:endParaRPr>
          </a:p>
        </p:txBody>
      </p:sp>
      <p:sp>
        <p:nvSpPr>
          <p:cNvPr id="88" name="Google Shape;88;p17">
            <a:extLst>
              <a:ext uri="{FF2B5EF4-FFF2-40B4-BE49-F238E27FC236}">
                <a16:creationId xmlns:a16="http://schemas.microsoft.com/office/drawing/2014/main" id="{E0B2C836-3E73-BB10-DCBC-C077258AD5D6}"/>
              </a:ext>
            </a:extLst>
          </p:cNvPr>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10</a:t>
            </a:fld>
            <a:endParaRPr/>
          </a:p>
        </p:txBody>
      </p:sp>
      <p:sp>
        <p:nvSpPr>
          <p:cNvPr id="3" name="Ellipse 2">
            <a:extLst>
              <a:ext uri="{FF2B5EF4-FFF2-40B4-BE49-F238E27FC236}">
                <a16:creationId xmlns:a16="http://schemas.microsoft.com/office/drawing/2014/main" id="{C9447EC1-5654-5E57-C6D1-506AA156CED4}"/>
              </a:ext>
            </a:extLst>
          </p:cNvPr>
          <p:cNvSpPr/>
          <p:nvPr/>
        </p:nvSpPr>
        <p:spPr>
          <a:xfrm>
            <a:off x="0" y="4221480"/>
            <a:ext cx="1661160" cy="9220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7215689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8"/>
          <p:cNvSpPr txBox="1">
            <a:spLocks noGrp="1"/>
          </p:cNvSpPr>
          <p:nvPr>
            <p:ph type="title"/>
          </p:nvPr>
        </p:nvSpPr>
        <p:spPr>
          <a:xfrm>
            <a:off x="311700" y="3172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FR" dirty="0"/>
              <a:t>Méthode</a:t>
            </a:r>
            <a:endParaRPr dirty="0"/>
          </a:p>
        </p:txBody>
      </p:sp>
      <p:sp>
        <p:nvSpPr>
          <p:cNvPr id="94" name="Google Shape;94;p18"/>
          <p:cNvSpPr txBox="1">
            <a:spLocks noGrp="1"/>
          </p:cNvSpPr>
          <p:nvPr>
            <p:ph type="body" idx="1"/>
          </p:nvPr>
        </p:nvSpPr>
        <p:spPr>
          <a:xfrm>
            <a:off x="311700" y="1014600"/>
            <a:ext cx="8520600" cy="3515400"/>
          </a:xfrm>
          <a:prstGeom prst="rect">
            <a:avLst/>
          </a:prstGeom>
        </p:spPr>
        <p:txBody>
          <a:bodyPr spcFirstLastPara="1" wrap="square" lIns="91425" tIns="91425" rIns="91425" bIns="91425" anchor="t" anchorCtr="0">
            <a:normAutofit/>
          </a:bodyPr>
          <a:lstStyle/>
          <a:p>
            <a:pPr marL="0" lvl="0" indent="0">
              <a:buNone/>
            </a:pPr>
            <a:r>
              <a:rPr lang="fr-FR" b="1" dirty="0"/>
              <a:t>Objectif</a:t>
            </a:r>
            <a:r>
              <a:rPr lang="fr-FR" dirty="0"/>
              <a:t>: Étudier et démontrer la faisabilité de l’utilisation de l’intelligence artificielle dans les deux étapes clés de la gestion des risques : l’identification des risques et la recommandation d’actions.</a:t>
            </a:r>
          </a:p>
          <a:p>
            <a:pPr marL="0" lvl="0" indent="0">
              <a:buNone/>
            </a:pPr>
            <a:endParaRPr lang="fr-FR" dirty="0"/>
          </a:p>
          <a:p>
            <a:pPr marL="0" lvl="0" indent="0">
              <a:buNone/>
            </a:pPr>
            <a:r>
              <a:rPr lang="fr-FR" dirty="0"/>
              <a:t>Pour les deux cas : </a:t>
            </a:r>
          </a:p>
          <a:p>
            <a:pPr marL="0" lvl="0" indent="0">
              <a:buNone/>
            </a:pPr>
            <a:endParaRPr lang="fr-FR" dirty="0"/>
          </a:p>
          <a:p>
            <a:pPr marL="342900" lvl="0" indent="-342900">
              <a:buFont typeface="+mj-lt"/>
              <a:buAutoNum type="arabicPeriod"/>
            </a:pPr>
            <a:r>
              <a:rPr lang="fr-FR" b="1" dirty="0"/>
              <a:t>Concevoir et mettre en œuvre un modèle prototype.</a:t>
            </a:r>
            <a:br>
              <a:rPr lang="fr-FR" dirty="0"/>
            </a:br>
            <a:endParaRPr lang="fr-FR" dirty="0"/>
          </a:p>
          <a:p>
            <a:pPr marL="342900" lvl="0" indent="-342900">
              <a:buFont typeface="+mj-lt"/>
              <a:buAutoNum type="arabicPeriod"/>
            </a:pPr>
            <a:r>
              <a:rPr lang="fr-FR" b="1" dirty="0"/>
              <a:t>Réaliser une expérimentation pour évaluer le prototype dans le cadre de la gestion des risques</a:t>
            </a:r>
            <a:endParaRPr dirty="0"/>
          </a:p>
        </p:txBody>
      </p:sp>
      <p:sp>
        <p:nvSpPr>
          <p:cNvPr id="95" name="Google Shape;95;p18"/>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11</a:t>
            </a:fld>
            <a:endParaRPr/>
          </a:p>
        </p:txBody>
      </p:sp>
      <p:sp>
        <p:nvSpPr>
          <p:cNvPr id="3" name="Ellipse 2">
            <a:extLst>
              <a:ext uri="{FF2B5EF4-FFF2-40B4-BE49-F238E27FC236}">
                <a16:creationId xmlns:a16="http://schemas.microsoft.com/office/drawing/2014/main" id="{147162BF-7B1F-EE7E-27FC-7653F18E44DA}"/>
              </a:ext>
            </a:extLst>
          </p:cNvPr>
          <p:cNvSpPr/>
          <p:nvPr/>
        </p:nvSpPr>
        <p:spPr>
          <a:xfrm>
            <a:off x="0" y="4221480"/>
            <a:ext cx="1661160" cy="9220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9"/>
          <p:cNvSpPr txBox="1">
            <a:spLocks noGrp="1"/>
          </p:cNvSpPr>
          <p:nvPr>
            <p:ph type="title"/>
          </p:nvPr>
        </p:nvSpPr>
        <p:spPr>
          <a:xfrm>
            <a:off x="311700" y="3172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dirty="0"/>
              <a:t>Implementation: Identification des risques </a:t>
            </a:r>
            <a:endParaRPr dirty="0"/>
          </a:p>
        </p:txBody>
      </p:sp>
      <p:sp>
        <p:nvSpPr>
          <p:cNvPr id="103" name="Google Shape;103;p19"/>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12</a:t>
            </a:fld>
            <a:endParaRPr/>
          </a:p>
        </p:txBody>
      </p:sp>
      <p:sp>
        <p:nvSpPr>
          <p:cNvPr id="3" name="Ellipse 2">
            <a:extLst>
              <a:ext uri="{FF2B5EF4-FFF2-40B4-BE49-F238E27FC236}">
                <a16:creationId xmlns:a16="http://schemas.microsoft.com/office/drawing/2014/main" id="{2162F965-5267-2169-5D4B-CBD0AD7C6D37}"/>
              </a:ext>
            </a:extLst>
          </p:cNvPr>
          <p:cNvSpPr/>
          <p:nvPr/>
        </p:nvSpPr>
        <p:spPr>
          <a:xfrm>
            <a:off x="0" y="4221480"/>
            <a:ext cx="1661160" cy="9220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a16="http://schemas.microsoft.com/office/drawing/2014/main" id="{B9415C2D-094D-8B5C-8D22-8D2DE749F7D2}"/>
              </a:ext>
            </a:extLst>
          </p:cNvPr>
          <p:cNvSpPr/>
          <p:nvPr/>
        </p:nvSpPr>
        <p:spPr>
          <a:xfrm>
            <a:off x="2135724" y="1529489"/>
            <a:ext cx="1857544" cy="9220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800" dirty="0"/>
              <a:t>LLM </a:t>
            </a:r>
          </a:p>
        </p:txBody>
      </p:sp>
      <p:cxnSp>
        <p:nvCxnSpPr>
          <p:cNvPr id="8" name="Connecteur droit avec flèche 7">
            <a:extLst>
              <a:ext uri="{FF2B5EF4-FFF2-40B4-BE49-F238E27FC236}">
                <a16:creationId xmlns:a16="http://schemas.microsoft.com/office/drawing/2014/main" id="{2F1F4237-90BF-8676-A2B8-DF7B8CEDBE55}"/>
              </a:ext>
            </a:extLst>
          </p:cNvPr>
          <p:cNvCxnSpPr>
            <a:cxnSpLocks/>
            <a:stCxn id="6" idx="3"/>
          </p:cNvCxnSpPr>
          <p:nvPr/>
        </p:nvCxnSpPr>
        <p:spPr>
          <a:xfrm>
            <a:off x="3993268" y="1990499"/>
            <a:ext cx="115746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148B638C-F714-2226-661F-5B3C4754C6C2}"/>
              </a:ext>
            </a:extLst>
          </p:cNvPr>
          <p:cNvSpPr/>
          <p:nvPr/>
        </p:nvSpPr>
        <p:spPr>
          <a:xfrm>
            <a:off x="5171090" y="1529489"/>
            <a:ext cx="1857544" cy="9220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1800" dirty="0"/>
              <a:t>Document Projet</a:t>
            </a:r>
          </a:p>
        </p:txBody>
      </p:sp>
      <p:sp>
        <p:nvSpPr>
          <p:cNvPr id="12" name="ZoneTexte 11">
            <a:extLst>
              <a:ext uri="{FF2B5EF4-FFF2-40B4-BE49-F238E27FC236}">
                <a16:creationId xmlns:a16="http://schemas.microsoft.com/office/drawing/2014/main" id="{C182D038-0C71-7B99-6AEC-00FFF6102D14}"/>
              </a:ext>
            </a:extLst>
          </p:cNvPr>
          <p:cNvSpPr txBox="1"/>
          <p:nvPr/>
        </p:nvSpPr>
        <p:spPr>
          <a:xfrm>
            <a:off x="1640811" y="3153001"/>
            <a:ext cx="7060557" cy="954107"/>
          </a:xfrm>
          <a:prstGeom prst="rect">
            <a:avLst/>
          </a:prstGeom>
          <a:noFill/>
        </p:spPr>
        <p:txBody>
          <a:bodyPr wrap="square" rtlCol="0">
            <a:spAutoFit/>
          </a:bodyPr>
          <a:lstStyle/>
          <a:p>
            <a:r>
              <a:rPr lang="fr-FR" b="1" dirty="0"/>
              <a:t>Comment pouvons-nous exploiter les modèles de langage (LLM) pour extraire efficacement les risques à partir des documents techniques d'un projet ?</a:t>
            </a:r>
          </a:p>
          <a:p>
            <a:r>
              <a:rPr lang="fr-FR" b="1" dirty="0"/>
              <a:t>Comment affiner et cibler les informations pertinentes à travers cette interaction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9">
          <a:extLst>
            <a:ext uri="{FF2B5EF4-FFF2-40B4-BE49-F238E27FC236}">
              <a16:creationId xmlns:a16="http://schemas.microsoft.com/office/drawing/2014/main" id="{59F327B1-F206-2271-211D-82F992FF04D0}"/>
            </a:ext>
          </a:extLst>
        </p:cNvPr>
        <p:cNvGrpSpPr/>
        <p:nvPr/>
      </p:nvGrpSpPr>
      <p:grpSpPr>
        <a:xfrm>
          <a:off x="0" y="0"/>
          <a:ext cx="0" cy="0"/>
          <a:chOff x="0" y="0"/>
          <a:chExt cx="0" cy="0"/>
        </a:xfrm>
      </p:grpSpPr>
      <p:sp>
        <p:nvSpPr>
          <p:cNvPr id="100" name="Google Shape;100;p19">
            <a:extLst>
              <a:ext uri="{FF2B5EF4-FFF2-40B4-BE49-F238E27FC236}">
                <a16:creationId xmlns:a16="http://schemas.microsoft.com/office/drawing/2014/main" id="{FD8CB759-A6B5-EDF2-A5C1-5D53BE0261A8}"/>
              </a:ext>
            </a:extLst>
          </p:cNvPr>
          <p:cNvSpPr txBox="1">
            <a:spLocks noGrp="1"/>
          </p:cNvSpPr>
          <p:nvPr>
            <p:ph type="title"/>
          </p:nvPr>
        </p:nvSpPr>
        <p:spPr>
          <a:xfrm>
            <a:off x="311700" y="3172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dirty="0"/>
              <a:t>Implementation: Identification des risques </a:t>
            </a:r>
            <a:br>
              <a:rPr lang="en-GB" dirty="0"/>
            </a:br>
            <a:endParaRPr dirty="0"/>
          </a:p>
        </p:txBody>
      </p:sp>
      <p:sp>
        <p:nvSpPr>
          <p:cNvPr id="103" name="Google Shape;103;p19">
            <a:extLst>
              <a:ext uri="{FF2B5EF4-FFF2-40B4-BE49-F238E27FC236}">
                <a16:creationId xmlns:a16="http://schemas.microsoft.com/office/drawing/2014/main" id="{EC94BF4E-99B1-E3DF-0786-B5F624BBAA75}"/>
              </a:ext>
            </a:extLst>
          </p:cNvPr>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13</a:t>
            </a:fld>
            <a:endParaRPr/>
          </a:p>
        </p:txBody>
      </p:sp>
      <p:sp>
        <p:nvSpPr>
          <p:cNvPr id="3" name="Ellipse 2">
            <a:extLst>
              <a:ext uri="{FF2B5EF4-FFF2-40B4-BE49-F238E27FC236}">
                <a16:creationId xmlns:a16="http://schemas.microsoft.com/office/drawing/2014/main" id="{D7E54973-D65C-3F1A-2A8A-3401369B011A}"/>
              </a:ext>
            </a:extLst>
          </p:cNvPr>
          <p:cNvSpPr/>
          <p:nvPr/>
        </p:nvSpPr>
        <p:spPr>
          <a:xfrm>
            <a:off x="0" y="4221480"/>
            <a:ext cx="1661160" cy="9220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5" name="Image 4">
            <a:extLst>
              <a:ext uri="{FF2B5EF4-FFF2-40B4-BE49-F238E27FC236}">
                <a16:creationId xmlns:a16="http://schemas.microsoft.com/office/drawing/2014/main" id="{9952CCD0-431F-5C55-F87D-F9FF3447FF6F}"/>
              </a:ext>
            </a:extLst>
          </p:cNvPr>
          <p:cNvPicPr>
            <a:picLocks noChangeAspect="1"/>
          </p:cNvPicPr>
          <p:nvPr/>
        </p:nvPicPr>
        <p:blipFill>
          <a:blip r:embed="rId3"/>
          <a:stretch>
            <a:fillRect/>
          </a:stretch>
        </p:blipFill>
        <p:spPr>
          <a:xfrm>
            <a:off x="677312" y="1069183"/>
            <a:ext cx="8334589" cy="3680709"/>
          </a:xfrm>
          <a:prstGeom prst="rect">
            <a:avLst/>
          </a:prstGeom>
        </p:spPr>
      </p:pic>
      <p:sp>
        <p:nvSpPr>
          <p:cNvPr id="2" name="ZoneTexte 1">
            <a:extLst>
              <a:ext uri="{FF2B5EF4-FFF2-40B4-BE49-F238E27FC236}">
                <a16:creationId xmlns:a16="http://schemas.microsoft.com/office/drawing/2014/main" id="{644B5564-ACF5-964D-C62D-E7447B8E7D2B}"/>
              </a:ext>
            </a:extLst>
          </p:cNvPr>
          <p:cNvSpPr txBox="1"/>
          <p:nvPr/>
        </p:nvSpPr>
        <p:spPr>
          <a:xfrm>
            <a:off x="311700" y="885820"/>
            <a:ext cx="10126562" cy="584775"/>
          </a:xfrm>
          <a:prstGeom prst="rect">
            <a:avLst/>
          </a:prstGeom>
          <a:noFill/>
        </p:spPr>
        <p:txBody>
          <a:bodyPr wrap="square" rtlCol="0">
            <a:spAutoFit/>
          </a:bodyPr>
          <a:lstStyle/>
          <a:p>
            <a:r>
              <a:rPr lang="fr-FR" sz="1600" b="1" dirty="0"/>
              <a:t>Solution : Ces différentes étapes arment les llms de contexte suffisant pour l’</a:t>
            </a:r>
            <a:r>
              <a:rPr lang="fr-FR" sz="1600" b="1" dirty="0" err="1"/>
              <a:t>anlyse</a:t>
            </a:r>
            <a:r>
              <a:rPr lang="fr-FR" sz="1600" b="1" dirty="0"/>
              <a:t>, ils sont aussi guidés grâce ç une définition enrichie des risques </a:t>
            </a:r>
            <a:r>
              <a:rPr lang="fr-FR" sz="1600" dirty="0"/>
              <a:t> </a:t>
            </a:r>
          </a:p>
        </p:txBody>
      </p:sp>
    </p:spTree>
    <p:extLst>
      <p:ext uri="{BB962C8B-B14F-4D97-AF65-F5344CB8AC3E}">
        <p14:creationId xmlns:p14="http://schemas.microsoft.com/office/powerpoint/2010/main" val="36638317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9" name="Google Shape;109;p20"/>
          <p:cNvSpPr txBox="1">
            <a:spLocks noGrp="1"/>
          </p:cNvSpPr>
          <p:nvPr>
            <p:ph type="title"/>
          </p:nvPr>
        </p:nvSpPr>
        <p:spPr>
          <a:xfrm>
            <a:off x="311700" y="3172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dirty="0"/>
              <a:t>Implementation : Recommendation actions</a:t>
            </a:r>
            <a:endParaRPr dirty="0"/>
          </a:p>
        </p:txBody>
      </p:sp>
      <p:sp>
        <p:nvSpPr>
          <p:cNvPr id="111" name="Google Shape;111;p20"/>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14</a:t>
            </a:fld>
            <a:endParaRPr/>
          </a:p>
        </p:txBody>
      </p:sp>
      <p:sp>
        <p:nvSpPr>
          <p:cNvPr id="3" name="Ellipse 2">
            <a:extLst>
              <a:ext uri="{FF2B5EF4-FFF2-40B4-BE49-F238E27FC236}">
                <a16:creationId xmlns:a16="http://schemas.microsoft.com/office/drawing/2014/main" id="{BFF8EB1B-9E54-4DEF-1E28-3E9BC1EB2981}"/>
              </a:ext>
            </a:extLst>
          </p:cNvPr>
          <p:cNvSpPr/>
          <p:nvPr/>
        </p:nvSpPr>
        <p:spPr>
          <a:xfrm>
            <a:off x="0" y="4221480"/>
            <a:ext cx="1661160" cy="9220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00DA1388-AEAF-66E4-06F1-EAC9F67090D2}"/>
              </a:ext>
            </a:extLst>
          </p:cNvPr>
          <p:cNvSpPr/>
          <p:nvPr/>
        </p:nvSpPr>
        <p:spPr>
          <a:xfrm>
            <a:off x="3306167" y="1716843"/>
            <a:ext cx="2514600" cy="1600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IA</a:t>
            </a:r>
          </a:p>
        </p:txBody>
      </p:sp>
      <p:cxnSp>
        <p:nvCxnSpPr>
          <p:cNvPr id="6" name="Connecteur droit avec flèche 5">
            <a:extLst>
              <a:ext uri="{FF2B5EF4-FFF2-40B4-BE49-F238E27FC236}">
                <a16:creationId xmlns:a16="http://schemas.microsoft.com/office/drawing/2014/main" id="{E10F937E-6632-2F69-C6E5-F7FE81DFE01B}"/>
              </a:ext>
            </a:extLst>
          </p:cNvPr>
          <p:cNvCxnSpPr>
            <a:cxnSpLocks/>
          </p:cNvCxnSpPr>
          <p:nvPr/>
        </p:nvCxnSpPr>
        <p:spPr>
          <a:xfrm>
            <a:off x="1803539" y="2417566"/>
            <a:ext cx="144475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1" name="Connecteur droit avec flèche 10">
            <a:extLst>
              <a:ext uri="{FF2B5EF4-FFF2-40B4-BE49-F238E27FC236}">
                <a16:creationId xmlns:a16="http://schemas.microsoft.com/office/drawing/2014/main" id="{6F12CFA1-0C71-C8C4-51AB-CE050CE2AE33}"/>
              </a:ext>
            </a:extLst>
          </p:cNvPr>
          <p:cNvCxnSpPr>
            <a:cxnSpLocks/>
          </p:cNvCxnSpPr>
          <p:nvPr/>
        </p:nvCxnSpPr>
        <p:spPr>
          <a:xfrm>
            <a:off x="5762891" y="2516943"/>
            <a:ext cx="850392"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ZoneTexte 11">
            <a:extLst>
              <a:ext uri="{FF2B5EF4-FFF2-40B4-BE49-F238E27FC236}">
                <a16:creationId xmlns:a16="http://schemas.microsoft.com/office/drawing/2014/main" id="{8F42A956-4774-9819-E280-1626403B4FFB}"/>
              </a:ext>
            </a:extLst>
          </p:cNvPr>
          <p:cNvSpPr txBox="1"/>
          <p:nvPr/>
        </p:nvSpPr>
        <p:spPr>
          <a:xfrm>
            <a:off x="658700" y="2187238"/>
            <a:ext cx="1203767" cy="523220"/>
          </a:xfrm>
          <a:prstGeom prst="rect">
            <a:avLst/>
          </a:prstGeom>
          <a:noFill/>
        </p:spPr>
        <p:txBody>
          <a:bodyPr wrap="square" rtlCol="0">
            <a:spAutoFit/>
          </a:bodyPr>
          <a:lstStyle/>
          <a:p>
            <a:r>
              <a:rPr lang="fr-FR" dirty="0"/>
              <a:t>Réseaux de risque</a:t>
            </a:r>
          </a:p>
        </p:txBody>
      </p:sp>
      <p:sp>
        <p:nvSpPr>
          <p:cNvPr id="13" name="ZoneTexte 12">
            <a:extLst>
              <a:ext uri="{FF2B5EF4-FFF2-40B4-BE49-F238E27FC236}">
                <a16:creationId xmlns:a16="http://schemas.microsoft.com/office/drawing/2014/main" id="{B706B491-7B48-B5A7-AE98-D1D436A54C4A}"/>
              </a:ext>
            </a:extLst>
          </p:cNvPr>
          <p:cNvSpPr txBox="1"/>
          <p:nvPr/>
        </p:nvSpPr>
        <p:spPr>
          <a:xfrm>
            <a:off x="6786903" y="2164277"/>
            <a:ext cx="1049154" cy="523220"/>
          </a:xfrm>
          <a:prstGeom prst="rect">
            <a:avLst/>
          </a:prstGeom>
          <a:noFill/>
        </p:spPr>
        <p:txBody>
          <a:bodyPr wrap="square" rtlCol="0">
            <a:spAutoFit/>
          </a:bodyPr>
          <a:lstStyle/>
          <a:p>
            <a:r>
              <a:rPr lang="fr-FR" dirty="0"/>
              <a:t>Actions Adaptées</a:t>
            </a:r>
          </a:p>
        </p:txBody>
      </p:sp>
      <p:sp>
        <p:nvSpPr>
          <p:cNvPr id="14" name="ZoneTexte 13">
            <a:extLst>
              <a:ext uri="{FF2B5EF4-FFF2-40B4-BE49-F238E27FC236}">
                <a16:creationId xmlns:a16="http://schemas.microsoft.com/office/drawing/2014/main" id="{A50723A5-6C61-A0A0-D039-678EE93671F8}"/>
              </a:ext>
            </a:extLst>
          </p:cNvPr>
          <p:cNvSpPr txBox="1"/>
          <p:nvPr/>
        </p:nvSpPr>
        <p:spPr>
          <a:xfrm>
            <a:off x="2171846" y="3665638"/>
            <a:ext cx="5186515" cy="1169551"/>
          </a:xfrm>
          <a:prstGeom prst="rect">
            <a:avLst/>
          </a:prstGeom>
          <a:noFill/>
        </p:spPr>
        <p:txBody>
          <a:bodyPr wrap="square" rtlCol="0">
            <a:spAutoFit/>
          </a:bodyPr>
          <a:lstStyle/>
          <a:p>
            <a:r>
              <a:rPr lang="fr-FR" b="1" dirty="0"/>
              <a:t>Comment utiliser l'IA pour Prédire des actions adaptées pour chaque risque à partir du réseau de risques ? Comment l'IA peut-elle exploiter les interdépendances entre les risques pour formuler des réponses plus contextuelles et efficaces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795FE27-D31D-7479-8E96-6C93D799401C}"/>
            </a:ext>
          </a:extLst>
        </p:cNvPr>
        <p:cNvGrpSpPr/>
        <p:nvPr/>
      </p:nvGrpSpPr>
      <p:grpSpPr>
        <a:xfrm>
          <a:off x="0" y="0"/>
          <a:ext cx="0" cy="0"/>
          <a:chOff x="0" y="0"/>
          <a:chExt cx="0" cy="0"/>
        </a:xfrm>
      </p:grpSpPr>
      <p:sp>
        <p:nvSpPr>
          <p:cNvPr id="109" name="Google Shape;109;p20">
            <a:extLst>
              <a:ext uri="{FF2B5EF4-FFF2-40B4-BE49-F238E27FC236}">
                <a16:creationId xmlns:a16="http://schemas.microsoft.com/office/drawing/2014/main" id="{52D0C752-AFC8-9DC6-7820-442D3A1158A3}"/>
              </a:ext>
            </a:extLst>
          </p:cNvPr>
          <p:cNvSpPr txBox="1">
            <a:spLocks noGrp="1"/>
          </p:cNvSpPr>
          <p:nvPr>
            <p:ph type="title"/>
          </p:nvPr>
        </p:nvSpPr>
        <p:spPr>
          <a:xfrm>
            <a:off x="311700" y="3172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dirty="0"/>
              <a:t>Implementation : Recommendation actions</a:t>
            </a:r>
            <a:endParaRPr dirty="0"/>
          </a:p>
        </p:txBody>
      </p:sp>
      <p:sp>
        <p:nvSpPr>
          <p:cNvPr id="111" name="Google Shape;111;p20">
            <a:extLst>
              <a:ext uri="{FF2B5EF4-FFF2-40B4-BE49-F238E27FC236}">
                <a16:creationId xmlns:a16="http://schemas.microsoft.com/office/drawing/2014/main" id="{7143A858-DD07-0EF1-2AD6-FB6734F29174}"/>
              </a:ext>
            </a:extLst>
          </p:cNvPr>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15</a:t>
            </a:fld>
            <a:endParaRPr/>
          </a:p>
        </p:txBody>
      </p:sp>
      <p:sp>
        <p:nvSpPr>
          <p:cNvPr id="3" name="Ellipse 2">
            <a:extLst>
              <a:ext uri="{FF2B5EF4-FFF2-40B4-BE49-F238E27FC236}">
                <a16:creationId xmlns:a16="http://schemas.microsoft.com/office/drawing/2014/main" id="{D72CAA6A-7FA3-D0F3-266C-76E6C029A3ED}"/>
              </a:ext>
            </a:extLst>
          </p:cNvPr>
          <p:cNvSpPr/>
          <p:nvPr/>
        </p:nvSpPr>
        <p:spPr>
          <a:xfrm>
            <a:off x="0" y="4221480"/>
            <a:ext cx="1661160" cy="9220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2" name="Espace réservé du contenu 12" descr="Une image contenant texte, capture d’écran, Police, ligne&#10;&#10;Le contenu généré par l’IA peut être incorrect.">
            <a:extLst>
              <a:ext uri="{FF2B5EF4-FFF2-40B4-BE49-F238E27FC236}">
                <a16:creationId xmlns:a16="http://schemas.microsoft.com/office/drawing/2014/main" id="{4E03CF0F-2B1F-641F-502B-D0E79903A2A7}"/>
              </a:ext>
            </a:extLst>
          </p:cNvPr>
          <p:cNvPicPr>
            <a:picLocks noChangeAspect="1"/>
          </p:cNvPicPr>
          <p:nvPr/>
        </p:nvPicPr>
        <p:blipFill>
          <a:blip r:embed="rId3"/>
          <a:stretch>
            <a:fillRect/>
          </a:stretch>
        </p:blipFill>
        <p:spPr>
          <a:xfrm>
            <a:off x="910059" y="1059865"/>
            <a:ext cx="7323882" cy="3570751"/>
          </a:xfrm>
          <a:prstGeom prst="rect">
            <a:avLst/>
          </a:prstGeom>
          <a:noFill/>
          <a:ln>
            <a:noFill/>
          </a:ln>
        </p:spPr>
      </p:pic>
      <p:sp>
        <p:nvSpPr>
          <p:cNvPr id="5" name="ZoneTexte 4">
            <a:extLst>
              <a:ext uri="{FF2B5EF4-FFF2-40B4-BE49-F238E27FC236}">
                <a16:creationId xmlns:a16="http://schemas.microsoft.com/office/drawing/2014/main" id="{88A2A163-131C-5F3B-3FD4-F39E86181F99}"/>
              </a:ext>
            </a:extLst>
          </p:cNvPr>
          <p:cNvSpPr txBox="1"/>
          <p:nvPr/>
        </p:nvSpPr>
        <p:spPr>
          <a:xfrm>
            <a:off x="405114" y="889950"/>
            <a:ext cx="8659294" cy="646331"/>
          </a:xfrm>
          <a:prstGeom prst="rect">
            <a:avLst/>
          </a:prstGeom>
          <a:noFill/>
        </p:spPr>
        <p:txBody>
          <a:bodyPr wrap="square" rtlCol="0">
            <a:spAutoFit/>
          </a:bodyPr>
          <a:lstStyle/>
          <a:p>
            <a:r>
              <a:rPr lang="fr-FR" sz="1800" b="1" dirty="0"/>
              <a:t>Solution</a:t>
            </a:r>
            <a:r>
              <a:rPr lang="fr-FR" sz="1800" dirty="0"/>
              <a:t>: Modèle de classification Machine Learning qui prédit un type prédéfini d’action</a:t>
            </a:r>
          </a:p>
        </p:txBody>
      </p:sp>
    </p:spTree>
    <p:extLst>
      <p:ext uri="{BB962C8B-B14F-4D97-AF65-F5344CB8AC3E}">
        <p14:creationId xmlns:p14="http://schemas.microsoft.com/office/powerpoint/2010/main" val="41231467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2"/>
          <p:cNvSpPr txBox="1">
            <a:spLocks noGrp="1"/>
          </p:cNvSpPr>
          <p:nvPr>
            <p:ph type="title"/>
          </p:nvPr>
        </p:nvSpPr>
        <p:spPr>
          <a:xfrm>
            <a:off x="311700" y="3172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FR" dirty="0"/>
              <a:t>Expérimentation: Identification des risques </a:t>
            </a:r>
            <a:endParaRPr dirty="0"/>
          </a:p>
        </p:txBody>
      </p:sp>
      <p:sp>
        <p:nvSpPr>
          <p:cNvPr id="125" name="Google Shape;125;p22"/>
          <p:cNvSpPr txBox="1">
            <a:spLocks noGrp="1"/>
          </p:cNvSpPr>
          <p:nvPr>
            <p:ph type="body" idx="1"/>
          </p:nvPr>
        </p:nvSpPr>
        <p:spPr>
          <a:xfrm>
            <a:off x="311700" y="1014600"/>
            <a:ext cx="8520600" cy="3515400"/>
          </a:xfrm>
          <a:prstGeom prst="rect">
            <a:avLst/>
          </a:prstGeom>
        </p:spPr>
        <p:txBody>
          <a:bodyPr spcFirstLastPara="1" wrap="square" lIns="91425" tIns="91425" rIns="91425" bIns="91425" anchor="t" anchorCtr="0">
            <a:normAutofit/>
          </a:bodyPr>
          <a:lstStyle/>
          <a:p>
            <a:pPr marL="0" lvl="0" indent="0">
              <a:buNone/>
            </a:pPr>
            <a:r>
              <a:rPr lang="fr-FR" dirty="0"/>
              <a:t>Le travail s'appuie sur un </a:t>
            </a:r>
            <a:r>
              <a:rPr lang="fr-FR" b="1" dirty="0"/>
              <a:t>document technique du CEA</a:t>
            </a:r>
            <a:r>
              <a:rPr lang="fr-FR" dirty="0"/>
              <a:t> concernant un bâtiment destiné à l’entreposage de déchets nucléaires. Ce document de 20 pages détaille les caractéristiques du bâtiment (dimensions, exigences réglementaires, etc.), et sert de base pour identifier les risques.</a:t>
            </a:r>
            <a:endParaRPr dirty="0"/>
          </a:p>
        </p:txBody>
      </p:sp>
      <p:sp>
        <p:nvSpPr>
          <p:cNvPr id="126" name="Google Shape;126;p22"/>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16</a:t>
            </a:fld>
            <a:endParaRPr/>
          </a:p>
        </p:txBody>
      </p:sp>
      <p:sp>
        <p:nvSpPr>
          <p:cNvPr id="3" name="Ellipse 2">
            <a:extLst>
              <a:ext uri="{FF2B5EF4-FFF2-40B4-BE49-F238E27FC236}">
                <a16:creationId xmlns:a16="http://schemas.microsoft.com/office/drawing/2014/main" id="{43B26072-BF1E-F086-9CD1-ADE5C8D8D763}"/>
              </a:ext>
            </a:extLst>
          </p:cNvPr>
          <p:cNvSpPr/>
          <p:nvPr/>
        </p:nvSpPr>
        <p:spPr>
          <a:xfrm>
            <a:off x="0" y="4306662"/>
            <a:ext cx="1581568" cy="86614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3">
          <a:extLst>
            <a:ext uri="{FF2B5EF4-FFF2-40B4-BE49-F238E27FC236}">
              <a16:creationId xmlns:a16="http://schemas.microsoft.com/office/drawing/2014/main" id="{DFBA0B10-6FE7-B15E-4415-CB16649EFD0D}"/>
            </a:ext>
          </a:extLst>
        </p:cNvPr>
        <p:cNvGrpSpPr/>
        <p:nvPr/>
      </p:nvGrpSpPr>
      <p:grpSpPr>
        <a:xfrm>
          <a:off x="0" y="0"/>
          <a:ext cx="0" cy="0"/>
          <a:chOff x="0" y="0"/>
          <a:chExt cx="0" cy="0"/>
        </a:xfrm>
      </p:grpSpPr>
      <p:sp>
        <p:nvSpPr>
          <p:cNvPr id="124" name="Google Shape;124;p22">
            <a:extLst>
              <a:ext uri="{FF2B5EF4-FFF2-40B4-BE49-F238E27FC236}">
                <a16:creationId xmlns:a16="http://schemas.microsoft.com/office/drawing/2014/main" id="{9E7B049C-0890-1C30-8FE1-DBB600D9C26E}"/>
              </a:ext>
            </a:extLst>
          </p:cNvPr>
          <p:cNvSpPr txBox="1">
            <a:spLocks noGrp="1"/>
          </p:cNvSpPr>
          <p:nvPr>
            <p:ph type="title"/>
          </p:nvPr>
        </p:nvSpPr>
        <p:spPr>
          <a:xfrm>
            <a:off x="311700" y="3172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FR" dirty="0"/>
              <a:t>Expérimentation: Recommandation d’actions</a:t>
            </a:r>
            <a:endParaRPr dirty="0"/>
          </a:p>
        </p:txBody>
      </p:sp>
      <p:sp>
        <p:nvSpPr>
          <p:cNvPr id="125" name="Google Shape;125;p22">
            <a:extLst>
              <a:ext uri="{FF2B5EF4-FFF2-40B4-BE49-F238E27FC236}">
                <a16:creationId xmlns:a16="http://schemas.microsoft.com/office/drawing/2014/main" id="{960B0C50-074A-9952-B55C-53BB4C750E4E}"/>
              </a:ext>
            </a:extLst>
          </p:cNvPr>
          <p:cNvSpPr txBox="1">
            <a:spLocks noGrp="1"/>
          </p:cNvSpPr>
          <p:nvPr>
            <p:ph type="body" idx="1"/>
          </p:nvPr>
        </p:nvSpPr>
        <p:spPr>
          <a:xfrm>
            <a:off x="311700" y="1014600"/>
            <a:ext cx="8520600" cy="3515400"/>
          </a:xfrm>
          <a:prstGeom prst="rect">
            <a:avLst/>
          </a:prstGeom>
        </p:spPr>
        <p:txBody>
          <a:bodyPr spcFirstLastPara="1" wrap="square" lIns="91425" tIns="91425" rIns="91425" bIns="91425" anchor="t" anchorCtr="0">
            <a:normAutofit/>
          </a:bodyPr>
          <a:lstStyle/>
          <a:p>
            <a:pPr marL="0" lvl="0" indent="0">
              <a:buNone/>
            </a:pPr>
            <a:r>
              <a:rPr lang="fr-FR" dirty="0"/>
              <a:t>L’expérimentation repose sur l’analyse de </a:t>
            </a:r>
            <a:r>
              <a:rPr lang="fr-FR" b="1" dirty="0"/>
              <a:t>réseaux de risques</a:t>
            </a:r>
            <a:r>
              <a:rPr lang="fr-FR" dirty="0"/>
              <a:t> pour chaque projet. Ces réseaux sont créés à partir de </a:t>
            </a:r>
            <a:r>
              <a:rPr lang="fr-FR" b="1" dirty="0"/>
              <a:t>matrices d’interaction</a:t>
            </a:r>
            <a:r>
              <a:rPr lang="fr-FR" dirty="0"/>
              <a:t> fournies par des experts en gestion des risques, recensant les </a:t>
            </a:r>
            <a:r>
              <a:rPr lang="fr-FR" b="1" dirty="0"/>
              <a:t>liens de dépendance</a:t>
            </a:r>
            <a:r>
              <a:rPr lang="fr-FR" dirty="0"/>
              <a:t> et </a:t>
            </a:r>
            <a:r>
              <a:rPr lang="fr-FR" b="1" dirty="0"/>
              <a:t>d’influence</a:t>
            </a:r>
            <a:r>
              <a:rPr lang="fr-FR" dirty="0"/>
              <a:t> entre les risques.</a:t>
            </a:r>
            <a:br>
              <a:rPr lang="fr-FR" dirty="0"/>
            </a:br>
            <a:endParaRPr dirty="0"/>
          </a:p>
        </p:txBody>
      </p:sp>
      <p:sp>
        <p:nvSpPr>
          <p:cNvPr id="126" name="Google Shape;126;p22">
            <a:extLst>
              <a:ext uri="{FF2B5EF4-FFF2-40B4-BE49-F238E27FC236}">
                <a16:creationId xmlns:a16="http://schemas.microsoft.com/office/drawing/2014/main" id="{1571635E-F615-31DF-BFFC-25DBD7E5054C}"/>
              </a:ext>
            </a:extLst>
          </p:cNvPr>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17</a:t>
            </a:fld>
            <a:endParaRPr/>
          </a:p>
        </p:txBody>
      </p:sp>
      <p:sp>
        <p:nvSpPr>
          <p:cNvPr id="3" name="Ellipse 2">
            <a:extLst>
              <a:ext uri="{FF2B5EF4-FFF2-40B4-BE49-F238E27FC236}">
                <a16:creationId xmlns:a16="http://schemas.microsoft.com/office/drawing/2014/main" id="{4EE13FB2-E9CF-CBDD-F307-DB516699D886}"/>
              </a:ext>
            </a:extLst>
          </p:cNvPr>
          <p:cNvSpPr/>
          <p:nvPr/>
        </p:nvSpPr>
        <p:spPr>
          <a:xfrm>
            <a:off x="0" y="4221480"/>
            <a:ext cx="1661160" cy="9220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0255593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3">
          <a:extLst>
            <a:ext uri="{FF2B5EF4-FFF2-40B4-BE49-F238E27FC236}">
              <a16:creationId xmlns:a16="http://schemas.microsoft.com/office/drawing/2014/main" id="{8617E47E-A6A4-3D42-6DCC-E0A7705637AF}"/>
            </a:ext>
          </a:extLst>
        </p:cNvPr>
        <p:cNvGrpSpPr/>
        <p:nvPr/>
      </p:nvGrpSpPr>
      <p:grpSpPr>
        <a:xfrm>
          <a:off x="0" y="0"/>
          <a:ext cx="0" cy="0"/>
          <a:chOff x="0" y="0"/>
          <a:chExt cx="0" cy="0"/>
        </a:xfrm>
      </p:grpSpPr>
      <p:sp>
        <p:nvSpPr>
          <p:cNvPr id="124" name="Google Shape;124;p22">
            <a:extLst>
              <a:ext uri="{FF2B5EF4-FFF2-40B4-BE49-F238E27FC236}">
                <a16:creationId xmlns:a16="http://schemas.microsoft.com/office/drawing/2014/main" id="{4B1F949F-670F-7ED4-5E51-11CDC7643AE3}"/>
              </a:ext>
            </a:extLst>
          </p:cNvPr>
          <p:cNvSpPr txBox="1">
            <a:spLocks noGrp="1"/>
          </p:cNvSpPr>
          <p:nvPr>
            <p:ph type="title"/>
          </p:nvPr>
        </p:nvSpPr>
        <p:spPr>
          <a:xfrm>
            <a:off x="311700" y="3172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FR" dirty="0"/>
              <a:t>Expérimentation: Recommandation d’actions</a:t>
            </a:r>
            <a:endParaRPr dirty="0"/>
          </a:p>
        </p:txBody>
      </p:sp>
      <p:sp>
        <p:nvSpPr>
          <p:cNvPr id="125" name="Google Shape;125;p22">
            <a:extLst>
              <a:ext uri="{FF2B5EF4-FFF2-40B4-BE49-F238E27FC236}">
                <a16:creationId xmlns:a16="http://schemas.microsoft.com/office/drawing/2014/main" id="{7439597C-58CC-CD02-F8A3-CF2E7E2D9FB6}"/>
              </a:ext>
            </a:extLst>
          </p:cNvPr>
          <p:cNvSpPr txBox="1">
            <a:spLocks noGrp="1"/>
          </p:cNvSpPr>
          <p:nvPr>
            <p:ph type="body" idx="1"/>
          </p:nvPr>
        </p:nvSpPr>
        <p:spPr>
          <a:xfrm>
            <a:off x="311700" y="1014600"/>
            <a:ext cx="8520600" cy="3515400"/>
          </a:xfrm>
          <a:prstGeom prst="rect">
            <a:avLst/>
          </a:prstGeom>
        </p:spPr>
        <p:txBody>
          <a:bodyPr spcFirstLastPara="1" wrap="square" lIns="91425" tIns="91425" rIns="91425" bIns="91425" anchor="t" anchorCtr="0">
            <a:normAutofit/>
          </a:bodyPr>
          <a:lstStyle/>
          <a:p>
            <a:pPr marL="0" lvl="0" indent="0">
              <a:buNone/>
            </a:pPr>
            <a:r>
              <a:rPr lang="fr-FR" dirty="0"/>
              <a:t>Les réseaux sont ensuite traités avec la bibliothèque </a:t>
            </a:r>
            <a:r>
              <a:rPr lang="fr-FR" b="1" dirty="0" err="1"/>
              <a:t>NetworkX</a:t>
            </a:r>
            <a:r>
              <a:rPr lang="fr-FR" dirty="0"/>
              <a:t>, permettant de calculer des </a:t>
            </a:r>
            <a:r>
              <a:rPr lang="fr-FR" b="1" dirty="0"/>
              <a:t>indicateurs de structure</a:t>
            </a:r>
            <a:r>
              <a:rPr lang="fr-FR" dirty="0"/>
              <a:t> (centralités, efficacité, clustering, etc.) pour chaque risque. Les experts renseignent également des </a:t>
            </a:r>
            <a:r>
              <a:rPr lang="fr-FR" b="1" dirty="0"/>
              <a:t>indicateurs individuels</a:t>
            </a:r>
            <a:r>
              <a:rPr lang="fr-FR" dirty="0"/>
              <a:t> comme la </a:t>
            </a:r>
            <a:r>
              <a:rPr lang="fr-FR" b="1" dirty="0"/>
              <a:t>probabilité</a:t>
            </a:r>
            <a:r>
              <a:rPr lang="fr-FR" dirty="0"/>
              <a:t>, la </a:t>
            </a:r>
            <a:r>
              <a:rPr lang="fr-FR" b="1" dirty="0"/>
              <a:t>gravité</a:t>
            </a:r>
            <a:r>
              <a:rPr lang="fr-FR" dirty="0"/>
              <a:t> et la </a:t>
            </a:r>
            <a:r>
              <a:rPr lang="fr-FR" b="1" dirty="0"/>
              <a:t>détectabilité</a:t>
            </a:r>
            <a:r>
              <a:rPr lang="fr-FR" dirty="0"/>
              <a:t>.</a:t>
            </a:r>
          </a:p>
          <a:p>
            <a:pPr marL="0" lvl="0" indent="0">
              <a:buNone/>
            </a:pPr>
            <a:r>
              <a:rPr lang="fr-FR" dirty="0"/>
              <a:t>Nous Entrainons donc des modèles Machine Learning sur ces données annotées par les experts pour les différentes prédictions sur les types d’actions</a:t>
            </a:r>
          </a:p>
          <a:p>
            <a:pPr marL="0" lvl="0" indent="0">
              <a:buNone/>
            </a:pPr>
            <a:endParaRPr dirty="0"/>
          </a:p>
        </p:txBody>
      </p:sp>
      <p:sp>
        <p:nvSpPr>
          <p:cNvPr id="126" name="Google Shape;126;p22">
            <a:extLst>
              <a:ext uri="{FF2B5EF4-FFF2-40B4-BE49-F238E27FC236}">
                <a16:creationId xmlns:a16="http://schemas.microsoft.com/office/drawing/2014/main" id="{D6D99700-474F-263A-369C-43AB4BFBB7E7}"/>
              </a:ext>
            </a:extLst>
          </p:cNvPr>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18</a:t>
            </a:fld>
            <a:endParaRPr/>
          </a:p>
        </p:txBody>
      </p:sp>
      <p:sp>
        <p:nvSpPr>
          <p:cNvPr id="3" name="Ellipse 2">
            <a:extLst>
              <a:ext uri="{FF2B5EF4-FFF2-40B4-BE49-F238E27FC236}">
                <a16:creationId xmlns:a16="http://schemas.microsoft.com/office/drawing/2014/main" id="{1A57038A-9081-D453-39BA-ABABB0AD3744}"/>
              </a:ext>
            </a:extLst>
          </p:cNvPr>
          <p:cNvSpPr/>
          <p:nvPr/>
        </p:nvSpPr>
        <p:spPr>
          <a:xfrm>
            <a:off x="0" y="4221480"/>
            <a:ext cx="1661160" cy="9220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3016901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23">
          <a:extLst>
            <a:ext uri="{FF2B5EF4-FFF2-40B4-BE49-F238E27FC236}">
              <a16:creationId xmlns:a16="http://schemas.microsoft.com/office/drawing/2014/main" id="{37BCF6A6-FCBF-25AA-B489-86C37CAF5DCC}"/>
            </a:ext>
          </a:extLst>
        </p:cNvPr>
        <p:cNvGrpSpPr/>
        <p:nvPr/>
      </p:nvGrpSpPr>
      <p:grpSpPr>
        <a:xfrm>
          <a:off x="0" y="0"/>
          <a:ext cx="0" cy="0"/>
          <a:chOff x="0" y="0"/>
          <a:chExt cx="0" cy="0"/>
        </a:xfrm>
      </p:grpSpPr>
      <p:sp>
        <p:nvSpPr>
          <p:cNvPr id="124" name="Google Shape;124;p22">
            <a:extLst>
              <a:ext uri="{FF2B5EF4-FFF2-40B4-BE49-F238E27FC236}">
                <a16:creationId xmlns:a16="http://schemas.microsoft.com/office/drawing/2014/main" id="{B3B1D337-182A-21F8-B576-7057B65A08EF}"/>
              </a:ext>
            </a:extLst>
          </p:cNvPr>
          <p:cNvSpPr txBox="1">
            <a:spLocks noGrp="1"/>
          </p:cNvSpPr>
          <p:nvPr>
            <p:ph type="title"/>
          </p:nvPr>
        </p:nvSpPr>
        <p:spPr>
          <a:xfrm>
            <a:off x="311700" y="3172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FR" dirty="0"/>
              <a:t>Expérimentation: Recommandation d’actions</a:t>
            </a:r>
            <a:endParaRPr dirty="0"/>
          </a:p>
        </p:txBody>
      </p:sp>
      <p:sp>
        <p:nvSpPr>
          <p:cNvPr id="125" name="Google Shape;125;p22">
            <a:extLst>
              <a:ext uri="{FF2B5EF4-FFF2-40B4-BE49-F238E27FC236}">
                <a16:creationId xmlns:a16="http://schemas.microsoft.com/office/drawing/2014/main" id="{5F952376-353A-A73F-97C6-9C4BECA29545}"/>
              </a:ext>
            </a:extLst>
          </p:cNvPr>
          <p:cNvSpPr txBox="1">
            <a:spLocks noGrp="1"/>
          </p:cNvSpPr>
          <p:nvPr>
            <p:ph type="body" idx="1"/>
          </p:nvPr>
        </p:nvSpPr>
        <p:spPr>
          <a:xfrm>
            <a:off x="311700" y="1014600"/>
            <a:ext cx="8520600" cy="3515400"/>
          </a:xfrm>
          <a:prstGeom prst="rect">
            <a:avLst/>
          </a:prstGeom>
        </p:spPr>
        <p:txBody>
          <a:bodyPr spcFirstLastPara="1" wrap="square" lIns="91425" tIns="91425" rIns="91425" bIns="91425" anchor="t" anchorCtr="0">
            <a:normAutofit/>
          </a:bodyPr>
          <a:lstStyle/>
          <a:p>
            <a:pPr marL="120650" indent="0">
              <a:buNone/>
            </a:pPr>
            <a:r>
              <a:rPr lang="fr-FR" b="1" dirty="0"/>
              <a:t>le Cas 1 - Projet Tramway :</a:t>
            </a:r>
          </a:p>
          <a:p>
            <a:pPr marL="120650" indent="0">
              <a:buNone/>
            </a:pPr>
            <a:br>
              <a:rPr lang="fr-FR" dirty="0"/>
            </a:br>
            <a:r>
              <a:rPr lang="fr-FR" dirty="0"/>
              <a:t>Le réseau de risques du projet tramway comprend </a:t>
            </a:r>
            <a:r>
              <a:rPr lang="fr-FR" b="1" dirty="0"/>
              <a:t>57 risques</a:t>
            </a:r>
            <a:r>
              <a:rPr lang="fr-FR" dirty="0"/>
              <a:t>. Les recommandations d'actions sont formulées par des experts métier, mais la </a:t>
            </a:r>
            <a:r>
              <a:rPr lang="fr-FR" b="1" dirty="0"/>
              <a:t>distribution des actions</a:t>
            </a:r>
            <a:r>
              <a:rPr lang="fr-FR" dirty="0"/>
              <a:t> est déséquilibrée, avec une forte prédominance des actions </a:t>
            </a:r>
            <a:r>
              <a:rPr lang="fr-FR" b="1" dirty="0"/>
              <a:t>non recommandées</a:t>
            </a:r>
            <a:r>
              <a:rPr lang="fr-FR" dirty="0"/>
              <a:t> ou </a:t>
            </a:r>
            <a:r>
              <a:rPr lang="fr-FR" b="1" dirty="0"/>
              <a:t>recommandées</a:t>
            </a:r>
            <a:r>
              <a:rPr lang="fr-FR" dirty="0"/>
              <a:t>.</a:t>
            </a:r>
          </a:p>
          <a:p>
            <a:pPr marL="120650" indent="0">
              <a:buNone/>
            </a:pPr>
            <a:endParaRPr lang="fr-FR" dirty="0"/>
          </a:p>
          <a:p>
            <a:pPr marL="120650" indent="0">
              <a:buNone/>
            </a:pPr>
            <a:br>
              <a:rPr lang="fr-FR" dirty="0"/>
            </a:br>
            <a:endParaRPr dirty="0"/>
          </a:p>
        </p:txBody>
      </p:sp>
      <p:sp>
        <p:nvSpPr>
          <p:cNvPr id="126" name="Google Shape;126;p22">
            <a:extLst>
              <a:ext uri="{FF2B5EF4-FFF2-40B4-BE49-F238E27FC236}">
                <a16:creationId xmlns:a16="http://schemas.microsoft.com/office/drawing/2014/main" id="{0CAC7DF7-DDCE-1A90-1699-1F32E8A228BE}"/>
              </a:ext>
            </a:extLst>
          </p:cNvPr>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19</a:t>
            </a:fld>
            <a:endParaRPr/>
          </a:p>
        </p:txBody>
      </p:sp>
      <p:sp>
        <p:nvSpPr>
          <p:cNvPr id="3" name="Ellipse 2">
            <a:extLst>
              <a:ext uri="{FF2B5EF4-FFF2-40B4-BE49-F238E27FC236}">
                <a16:creationId xmlns:a16="http://schemas.microsoft.com/office/drawing/2014/main" id="{4C60DE68-F270-EAD4-B74F-5952E3DC775E}"/>
              </a:ext>
            </a:extLst>
          </p:cNvPr>
          <p:cNvSpPr/>
          <p:nvPr/>
        </p:nvSpPr>
        <p:spPr>
          <a:xfrm>
            <a:off x="0" y="4221480"/>
            <a:ext cx="1661160" cy="9220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Image 3">
            <a:extLst>
              <a:ext uri="{FF2B5EF4-FFF2-40B4-BE49-F238E27FC236}">
                <a16:creationId xmlns:a16="http://schemas.microsoft.com/office/drawing/2014/main" id="{7B047329-86AD-0376-4C56-AFDE86DDA576}"/>
              </a:ext>
            </a:extLst>
          </p:cNvPr>
          <p:cNvPicPr>
            <a:picLocks noChangeAspect="1"/>
          </p:cNvPicPr>
          <p:nvPr/>
        </p:nvPicPr>
        <p:blipFill>
          <a:blip r:embed="rId3"/>
          <a:stretch>
            <a:fillRect/>
          </a:stretch>
        </p:blipFill>
        <p:spPr>
          <a:xfrm>
            <a:off x="487680" y="2994110"/>
            <a:ext cx="6657253" cy="1300180"/>
          </a:xfrm>
          <a:prstGeom prst="rect">
            <a:avLst/>
          </a:prstGeom>
        </p:spPr>
      </p:pic>
    </p:spTree>
    <p:extLst>
      <p:ext uri="{BB962C8B-B14F-4D97-AF65-F5344CB8AC3E}">
        <p14:creationId xmlns:p14="http://schemas.microsoft.com/office/powerpoint/2010/main" val="6048695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23">
          <a:extLst>
            <a:ext uri="{FF2B5EF4-FFF2-40B4-BE49-F238E27FC236}">
              <a16:creationId xmlns:a16="http://schemas.microsoft.com/office/drawing/2014/main" id="{1A3B5D33-A16E-C155-3390-7C9283DF030B}"/>
            </a:ext>
          </a:extLst>
        </p:cNvPr>
        <p:cNvGrpSpPr/>
        <p:nvPr/>
      </p:nvGrpSpPr>
      <p:grpSpPr>
        <a:xfrm>
          <a:off x="0" y="0"/>
          <a:ext cx="0" cy="0"/>
          <a:chOff x="0" y="0"/>
          <a:chExt cx="0" cy="0"/>
        </a:xfrm>
      </p:grpSpPr>
      <p:sp>
        <p:nvSpPr>
          <p:cNvPr id="124" name="Google Shape;124;p22">
            <a:extLst>
              <a:ext uri="{FF2B5EF4-FFF2-40B4-BE49-F238E27FC236}">
                <a16:creationId xmlns:a16="http://schemas.microsoft.com/office/drawing/2014/main" id="{48622938-EBBC-7732-6F5F-6E4EACDEBF39}"/>
              </a:ext>
            </a:extLst>
          </p:cNvPr>
          <p:cNvSpPr txBox="1">
            <a:spLocks noGrp="1"/>
          </p:cNvSpPr>
          <p:nvPr>
            <p:ph type="title"/>
          </p:nvPr>
        </p:nvSpPr>
        <p:spPr>
          <a:xfrm>
            <a:off x="311700" y="3172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FR" dirty="0"/>
              <a:t>Expérimentation: Recommandation d’actions</a:t>
            </a:r>
            <a:endParaRPr dirty="0"/>
          </a:p>
        </p:txBody>
      </p:sp>
      <p:sp>
        <p:nvSpPr>
          <p:cNvPr id="125" name="Google Shape;125;p22">
            <a:extLst>
              <a:ext uri="{FF2B5EF4-FFF2-40B4-BE49-F238E27FC236}">
                <a16:creationId xmlns:a16="http://schemas.microsoft.com/office/drawing/2014/main" id="{C024EC89-10A6-F5F2-40D6-5DB4608ADD25}"/>
              </a:ext>
            </a:extLst>
          </p:cNvPr>
          <p:cNvSpPr txBox="1">
            <a:spLocks noGrp="1"/>
          </p:cNvSpPr>
          <p:nvPr>
            <p:ph type="body" idx="1"/>
          </p:nvPr>
        </p:nvSpPr>
        <p:spPr>
          <a:xfrm>
            <a:off x="311700" y="1014600"/>
            <a:ext cx="8520600" cy="3515400"/>
          </a:xfrm>
          <a:prstGeom prst="rect">
            <a:avLst/>
          </a:prstGeom>
        </p:spPr>
        <p:txBody>
          <a:bodyPr spcFirstLastPara="1" wrap="square" lIns="91425" tIns="91425" rIns="91425" bIns="91425" anchor="t" anchorCtr="0">
            <a:normAutofit/>
          </a:bodyPr>
          <a:lstStyle/>
          <a:p>
            <a:pPr marL="120650" indent="0">
              <a:buNone/>
            </a:pPr>
            <a:r>
              <a:rPr lang="fr-FR" b="1" dirty="0"/>
              <a:t>le Cas 1 - Projet Tramway :</a:t>
            </a:r>
          </a:p>
          <a:p>
            <a:pPr marL="120650" indent="0">
              <a:buNone/>
            </a:pPr>
            <a:endParaRPr lang="fr-FR" dirty="0"/>
          </a:p>
          <a:p>
            <a:pPr marL="120650" indent="0">
              <a:buNone/>
            </a:pPr>
            <a:r>
              <a:rPr lang="fr-FR" dirty="0"/>
              <a:t>Pour résoudre ce problème, les classes sont fusionnées en </a:t>
            </a:r>
            <a:r>
              <a:rPr lang="fr-FR" b="1" dirty="0"/>
              <a:t>binaire</a:t>
            </a:r>
            <a:r>
              <a:rPr lang="fr-FR" dirty="0"/>
              <a:t> :</a:t>
            </a:r>
          </a:p>
          <a:p>
            <a:r>
              <a:rPr lang="fr-FR" b="1" dirty="0"/>
              <a:t>Classe 0</a:t>
            </a:r>
            <a:r>
              <a:rPr lang="fr-FR" dirty="0"/>
              <a:t> : Action non recommandée</a:t>
            </a:r>
          </a:p>
          <a:p>
            <a:r>
              <a:rPr lang="fr-FR" b="1" dirty="0"/>
              <a:t>Classe 1</a:t>
            </a:r>
            <a:r>
              <a:rPr lang="fr-FR" dirty="0"/>
              <a:t> : Action recommandée ou à formuler</a:t>
            </a:r>
          </a:p>
          <a:p>
            <a:pPr marL="120650" indent="0">
              <a:buNone/>
            </a:pPr>
            <a:endParaRPr lang="fr-FR" dirty="0"/>
          </a:p>
          <a:p>
            <a:pPr marL="120650" indent="0">
              <a:buNone/>
            </a:pPr>
            <a:br>
              <a:rPr lang="fr-FR" dirty="0"/>
            </a:br>
            <a:endParaRPr dirty="0"/>
          </a:p>
        </p:txBody>
      </p:sp>
      <p:sp>
        <p:nvSpPr>
          <p:cNvPr id="126" name="Google Shape;126;p22">
            <a:extLst>
              <a:ext uri="{FF2B5EF4-FFF2-40B4-BE49-F238E27FC236}">
                <a16:creationId xmlns:a16="http://schemas.microsoft.com/office/drawing/2014/main" id="{8EE29112-7520-9A47-B90A-9976E9FF6A7C}"/>
              </a:ext>
            </a:extLst>
          </p:cNvPr>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20</a:t>
            </a:fld>
            <a:endParaRPr/>
          </a:p>
        </p:txBody>
      </p:sp>
      <p:sp>
        <p:nvSpPr>
          <p:cNvPr id="3" name="Ellipse 2">
            <a:extLst>
              <a:ext uri="{FF2B5EF4-FFF2-40B4-BE49-F238E27FC236}">
                <a16:creationId xmlns:a16="http://schemas.microsoft.com/office/drawing/2014/main" id="{240E6CA2-D1CB-394D-19C1-C4C914D36086}"/>
              </a:ext>
            </a:extLst>
          </p:cNvPr>
          <p:cNvSpPr/>
          <p:nvPr/>
        </p:nvSpPr>
        <p:spPr>
          <a:xfrm>
            <a:off x="0" y="4221480"/>
            <a:ext cx="1661160" cy="9220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4636857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23">
          <a:extLst>
            <a:ext uri="{FF2B5EF4-FFF2-40B4-BE49-F238E27FC236}">
              <a16:creationId xmlns:a16="http://schemas.microsoft.com/office/drawing/2014/main" id="{4B15478A-2204-2E40-5388-6A694AC356F6}"/>
            </a:ext>
          </a:extLst>
        </p:cNvPr>
        <p:cNvGrpSpPr/>
        <p:nvPr/>
      </p:nvGrpSpPr>
      <p:grpSpPr>
        <a:xfrm>
          <a:off x="0" y="0"/>
          <a:ext cx="0" cy="0"/>
          <a:chOff x="0" y="0"/>
          <a:chExt cx="0" cy="0"/>
        </a:xfrm>
      </p:grpSpPr>
      <p:sp>
        <p:nvSpPr>
          <p:cNvPr id="124" name="Google Shape;124;p22">
            <a:extLst>
              <a:ext uri="{FF2B5EF4-FFF2-40B4-BE49-F238E27FC236}">
                <a16:creationId xmlns:a16="http://schemas.microsoft.com/office/drawing/2014/main" id="{C2EF2C9A-D85B-7076-87A8-777A4725CA1B}"/>
              </a:ext>
            </a:extLst>
          </p:cNvPr>
          <p:cNvSpPr txBox="1">
            <a:spLocks noGrp="1"/>
          </p:cNvSpPr>
          <p:nvPr>
            <p:ph type="title"/>
          </p:nvPr>
        </p:nvSpPr>
        <p:spPr>
          <a:xfrm>
            <a:off x="311700" y="3172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fr-FR" dirty="0"/>
              <a:t>Expérimentation: Recommandation d’actions</a:t>
            </a:r>
            <a:endParaRPr dirty="0"/>
          </a:p>
        </p:txBody>
      </p:sp>
      <p:sp>
        <p:nvSpPr>
          <p:cNvPr id="125" name="Google Shape;125;p22">
            <a:extLst>
              <a:ext uri="{FF2B5EF4-FFF2-40B4-BE49-F238E27FC236}">
                <a16:creationId xmlns:a16="http://schemas.microsoft.com/office/drawing/2014/main" id="{269D4065-3A88-5F72-BCEC-C61BF4154B0F}"/>
              </a:ext>
            </a:extLst>
          </p:cNvPr>
          <p:cNvSpPr txBox="1">
            <a:spLocks noGrp="1"/>
          </p:cNvSpPr>
          <p:nvPr>
            <p:ph type="body" idx="1"/>
          </p:nvPr>
        </p:nvSpPr>
        <p:spPr>
          <a:xfrm>
            <a:off x="311700" y="1014600"/>
            <a:ext cx="8520600" cy="3515400"/>
          </a:xfrm>
          <a:prstGeom prst="rect">
            <a:avLst/>
          </a:prstGeom>
        </p:spPr>
        <p:txBody>
          <a:bodyPr spcFirstLastPara="1" wrap="square" lIns="91425" tIns="91425" rIns="91425" bIns="91425" anchor="t" anchorCtr="0">
            <a:normAutofit/>
          </a:bodyPr>
          <a:lstStyle/>
          <a:p>
            <a:pPr marL="120650" indent="0">
              <a:buNone/>
            </a:pPr>
            <a:r>
              <a:rPr lang="fr-FR" b="1" dirty="0"/>
              <a:t> Le cas 2 - Projets de Comédie Musicale :</a:t>
            </a:r>
          </a:p>
          <a:p>
            <a:pPr marL="120650" indent="0">
              <a:buNone/>
            </a:pPr>
            <a:br>
              <a:rPr lang="fr-FR" dirty="0"/>
            </a:br>
            <a:r>
              <a:rPr lang="fr-FR" dirty="0"/>
              <a:t>Ce cas se concentre sur </a:t>
            </a:r>
            <a:r>
              <a:rPr lang="fr-FR" b="1" dirty="0"/>
              <a:t>divers projets d’événements musicaux</a:t>
            </a:r>
            <a:r>
              <a:rPr lang="fr-FR" dirty="0"/>
              <a:t>, avec des </a:t>
            </a:r>
            <a:r>
              <a:rPr lang="fr-FR" b="1" dirty="0"/>
              <a:t>réseaux de risques</a:t>
            </a:r>
            <a:r>
              <a:rPr lang="fr-FR" dirty="0"/>
              <a:t> distincts pour chaque projet. Les recommandations d'actions pour ces projets sont également issues de l'expertise des professionnels du domaine.</a:t>
            </a:r>
            <a:br>
              <a:rPr lang="fr-FR" dirty="0"/>
            </a:br>
            <a:endParaRPr dirty="0"/>
          </a:p>
        </p:txBody>
      </p:sp>
      <p:sp>
        <p:nvSpPr>
          <p:cNvPr id="126" name="Google Shape;126;p22">
            <a:extLst>
              <a:ext uri="{FF2B5EF4-FFF2-40B4-BE49-F238E27FC236}">
                <a16:creationId xmlns:a16="http://schemas.microsoft.com/office/drawing/2014/main" id="{A7CA9F05-E14D-B6DC-BEA9-6B191C8CEC9F}"/>
              </a:ext>
            </a:extLst>
          </p:cNvPr>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21</a:t>
            </a:fld>
            <a:endParaRPr/>
          </a:p>
        </p:txBody>
      </p:sp>
      <p:sp>
        <p:nvSpPr>
          <p:cNvPr id="3" name="Ellipse 2">
            <a:extLst>
              <a:ext uri="{FF2B5EF4-FFF2-40B4-BE49-F238E27FC236}">
                <a16:creationId xmlns:a16="http://schemas.microsoft.com/office/drawing/2014/main" id="{727CCF59-76FB-DF0A-58A4-12A166D95D7D}"/>
              </a:ext>
            </a:extLst>
          </p:cNvPr>
          <p:cNvSpPr/>
          <p:nvPr/>
        </p:nvSpPr>
        <p:spPr>
          <a:xfrm>
            <a:off x="0" y="4221480"/>
            <a:ext cx="1661160" cy="92202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9070884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02738-D622-AADC-02BA-96DC94AA09F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F75545A-9F4D-90F8-04F7-BB00B0D253BB}"/>
              </a:ext>
            </a:extLst>
          </p:cNvPr>
          <p:cNvSpPr>
            <a:spLocks noGrp="1"/>
          </p:cNvSpPr>
          <p:nvPr>
            <p:ph type="title"/>
          </p:nvPr>
        </p:nvSpPr>
        <p:spPr>
          <a:xfrm>
            <a:off x="273041" y="35773"/>
            <a:ext cx="8520600" cy="572700"/>
          </a:xfrm>
        </p:spPr>
        <p:txBody>
          <a:bodyPr>
            <a:normAutofit fontScale="90000"/>
          </a:bodyPr>
          <a:lstStyle/>
          <a:p>
            <a:r>
              <a:rPr lang="fr-FR" dirty="0"/>
              <a:t>Expérimentation: Recommandation d’actions</a:t>
            </a:r>
          </a:p>
        </p:txBody>
      </p:sp>
      <p:sp>
        <p:nvSpPr>
          <p:cNvPr id="4" name="Espace réservé du numéro de diapositive 3">
            <a:extLst>
              <a:ext uri="{FF2B5EF4-FFF2-40B4-BE49-F238E27FC236}">
                <a16:creationId xmlns:a16="http://schemas.microsoft.com/office/drawing/2014/main" id="{631E5C1B-68BC-73DC-4228-F386A518CF17}"/>
              </a:ext>
            </a:extLst>
          </p:cNvPr>
          <p:cNvSpPr>
            <a:spLocks noGrp="1"/>
          </p:cNvSpPr>
          <p:nvPr>
            <p:ph type="sldNum" idx="12"/>
          </p:nvPr>
        </p:nvSpPr>
        <p:spPr>
          <a:xfrm>
            <a:off x="6944249" y="4503264"/>
            <a:ext cx="548700" cy="393600"/>
          </a:xfrm>
        </p:spPr>
        <p:txBody>
          <a:bodyPr/>
          <a:lstStyle/>
          <a:p>
            <a:pPr marL="0" lvl="0" indent="0" algn="r" rtl="0">
              <a:spcBef>
                <a:spcPts val="0"/>
              </a:spcBef>
              <a:spcAft>
                <a:spcPts val="0"/>
              </a:spcAft>
              <a:buNone/>
            </a:pPr>
            <a:fld id="{00000000-1234-1234-1234-123412341234}" type="slidenum">
              <a:rPr lang="en-GB" smtClean="0"/>
              <a:t>22</a:t>
            </a:fld>
            <a:endParaRPr lang="en-GB"/>
          </a:p>
        </p:txBody>
      </p:sp>
      <p:sp>
        <p:nvSpPr>
          <p:cNvPr id="5" name="Ellipse 4">
            <a:extLst>
              <a:ext uri="{FF2B5EF4-FFF2-40B4-BE49-F238E27FC236}">
                <a16:creationId xmlns:a16="http://schemas.microsoft.com/office/drawing/2014/main" id="{2DD2C2E4-805E-074C-FC50-D072801B3B02}"/>
              </a:ext>
            </a:extLst>
          </p:cNvPr>
          <p:cNvSpPr/>
          <p:nvPr/>
        </p:nvSpPr>
        <p:spPr>
          <a:xfrm>
            <a:off x="0" y="4530000"/>
            <a:ext cx="1661160" cy="6135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Rectangle 5">
            <a:extLst>
              <a:ext uri="{FF2B5EF4-FFF2-40B4-BE49-F238E27FC236}">
                <a16:creationId xmlns:a16="http://schemas.microsoft.com/office/drawing/2014/main" id="{A45953C4-7FD3-61BC-CEC5-DF54C9FB5762}"/>
              </a:ext>
            </a:extLst>
          </p:cNvPr>
          <p:cNvSpPr/>
          <p:nvPr/>
        </p:nvSpPr>
        <p:spPr>
          <a:xfrm>
            <a:off x="909590" y="1027116"/>
            <a:ext cx="1971447" cy="6488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Modèles</a:t>
            </a:r>
          </a:p>
        </p:txBody>
      </p:sp>
      <p:cxnSp>
        <p:nvCxnSpPr>
          <p:cNvPr id="7" name="Connecteur droit avec flèche 6">
            <a:extLst>
              <a:ext uri="{FF2B5EF4-FFF2-40B4-BE49-F238E27FC236}">
                <a16:creationId xmlns:a16="http://schemas.microsoft.com/office/drawing/2014/main" id="{CE4F0EFE-291C-86D3-4CC9-CC72CC63F393}"/>
              </a:ext>
            </a:extLst>
          </p:cNvPr>
          <p:cNvCxnSpPr>
            <a:cxnSpLocks/>
          </p:cNvCxnSpPr>
          <p:nvPr/>
        </p:nvCxnSpPr>
        <p:spPr>
          <a:xfrm flipV="1">
            <a:off x="2881037" y="1386282"/>
            <a:ext cx="561105"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8" name="Rectangle 7">
            <a:extLst>
              <a:ext uri="{FF2B5EF4-FFF2-40B4-BE49-F238E27FC236}">
                <a16:creationId xmlns:a16="http://schemas.microsoft.com/office/drawing/2014/main" id="{8BAF995A-EA25-B2A9-FEF0-2BDB93D31444}"/>
              </a:ext>
            </a:extLst>
          </p:cNvPr>
          <p:cNvSpPr/>
          <p:nvPr/>
        </p:nvSpPr>
        <p:spPr>
          <a:xfrm>
            <a:off x="5517275" y="1074648"/>
            <a:ext cx="2448233" cy="7472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Cross Validation k=3</a:t>
            </a:r>
          </a:p>
        </p:txBody>
      </p:sp>
      <p:cxnSp>
        <p:nvCxnSpPr>
          <p:cNvPr id="9" name="Connecteur droit avec flèche 8">
            <a:extLst>
              <a:ext uri="{FF2B5EF4-FFF2-40B4-BE49-F238E27FC236}">
                <a16:creationId xmlns:a16="http://schemas.microsoft.com/office/drawing/2014/main" id="{0FFACB5C-A673-831C-556A-8993F4783361}"/>
              </a:ext>
            </a:extLst>
          </p:cNvPr>
          <p:cNvCxnSpPr>
            <a:cxnSpLocks/>
          </p:cNvCxnSpPr>
          <p:nvPr/>
        </p:nvCxnSpPr>
        <p:spPr>
          <a:xfrm>
            <a:off x="6741391" y="1864907"/>
            <a:ext cx="0" cy="114545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 name="Rectangle 9">
            <a:extLst>
              <a:ext uri="{FF2B5EF4-FFF2-40B4-BE49-F238E27FC236}">
                <a16:creationId xmlns:a16="http://schemas.microsoft.com/office/drawing/2014/main" id="{1D8C2C6D-F718-FDDF-C09C-74084AFABDC4}"/>
              </a:ext>
            </a:extLst>
          </p:cNvPr>
          <p:cNvSpPr/>
          <p:nvPr/>
        </p:nvSpPr>
        <p:spPr>
          <a:xfrm>
            <a:off x="5517275" y="2761792"/>
            <a:ext cx="2448233" cy="7472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Choix des Modèles les plus stables</a:t>
            </a:r>
          </a:p>
        </p:txBody>
      </p:sp>
      <p:cxnSp>
        <p:nvCxnSpPr>
          <p:cNvPr id="11" name="Connecteur droit avec flèche 10">
            <a:extLst>
              <a:ext uri="{FF2B5EF4-FFF2-40B4-BE49-F238E27FC236}">
                <a16:creationId xmlns:a16="http://schemas.microsoft.com/office/drawing/2014/main" id="{3041C797-1234-6709-2619-FF0A311BBC62}"/>
              </a:ext>
            </a:extLst>
          </p:cNvPr>
          <p:cNvCxnSpPr>
            <a:cxnSpLocks/>
          </p:cNvCxnSpPr>
          <p:nvPr/>
        </p:nvCxnSpPr>
        <p:spPr>
          <a:xfrm>
            <a:off x="6728304" y="3444664"/>
            <a:ext cx="13087" cy="77862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2" name="Rectangle 11">
            <a:extLst>
              <a:ext uri="{FF2B5EF4-FFF2-40B4-BE49-F238E27FC236}">
                <a16:creationId xmlns:a16="http://schemas.microsoft.com/office/drawing/2014/main" id="{C8A0CC40-3192-80B6-FB38-E7A27C2946EE}"/>
              </a:ext>
            </a:extLst>
          </p:cNvPr>
          <p:cNvSpPr/>
          <p:nvPr/>
        </p:nvSpPr>
        <p:spPr>
          <a:xfrm>
            <a:off x="5517275" y="4149621"/>
            <a:ext cx="2448233" cy="7472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Fine Tuning de ces Modèles</a:t>
            </a:r>
          </a:p>
        </p:txBody>
      </p:sp>
      <p:cxnSp>
        <p:nvCxnSpPr>
          <p:cNvPr id="13" name="Connecteur droit avec flèche 12">
            <a:extLst>
              <a:ext uri="{FF2B5EF4-FFF2-40B4-BE49-F238E27FC236}">
                <a16:creationId xmlns:a16="http://schemas.microsoft.com/office/drawing/2014/main" id="{6BB52634-4E2B-E16B-39D2-F72A21C295D3}"/>
              </a:ext>
            </a:extLst>
          </p:cNvPr>
          <p:cNvCxnSpPr>
            <a:cxnSpLocks/>
            <a:stCxn id="12" idx="1"/>
            <a:endCxn id="14" idx="3"/>
          </p:cNvCxnSpPr>
          <p:nvPr/>
        </p:nvCxnSpPr>
        <p:spPr>
          <a:xfrm flipH="1" flipV="1">
            <a:off x="4626807" y="4521436"/>
            <a:ext cx="890468" cy="181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62E4B058-685F-722A-616E-51B688B7A9D5}"/>
              </a:ext>
            </a:extLst>
          </p:cNvPr>
          <p:cNvSpPr/>
          <p:nvPr/>
        </p:nvSpPr>
        <p:spPr>
          <a:xfrm>
            <a:off x="2178574" y="4147810"/>
            <a:ext cx="2448233" cy="7472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Shortlist des Meilleurs Modèles Optimisés</a:t>
            </a:r>
          </a:p>
        </p:txBody>
      </p:sp>
      <p:sp>
        <p:nvSpPr>
          <p:cNvPr id="22" name="Rectangle 21">
            <a:extLst>
              <a:ext uri="{FF2B5EF4-FFF2-40B4-BE49-F238E27FC236}">
                <a16:creationId xmlns:a16="http://schemas.microsoft.com/office/drawing/2014/main" id="{BEC3F166-F4E2-8406-FBA9-240A01138E81}"/>
              </a:ext>
            </a:extLst>
          </p:cNvPr>
          <p:cNvSpPr/>
          <p:nvPr/>
        </p:nvSpPr>
        <p:spPr>
          <a:xfrm>
            <a:off x="3442142" y="945940"/>
            <a:ext cx="1514027" cy="8112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Feature Importance avec Random Forest</a:t>
            </a:r>
          </a:p>
        </p:txBody>
      </p:sp>
      <p:cxnSp>
        <p:nvCxnSpPr>
          <p:cNvPr id="28" name="Connecteur droit avec flèche 27">
            <a:extLst>
              <a:ext uri="{FF2B5EF4-FFF2-40B4-BE49-F238E27FC236}">
                <a16:creationId xmlns:a16="http://schemas.microsoft.com/office/drawing/2014/main" id="{823D9AF7-AFFC-A8B7-0D29-9603BEE6DF09}"/>
              </a:ext>
            </a:extLst>
          </p:cNvPr>
          <p:cNvCxnSpPr>
            <a:cxnSpLocks/>
          </p:cNvCxnSpPr>
          <p:nvPr/>
        </p:nvCxnSpPr>
        <p:spPr>
          <a:xfrm flipV="1">
            <a:off x="4956169" y="1386282"/>
            <a:ext cx="561105" cy="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3" name="ZoneTexte 32">
            <a:extLst>
              <a:ext uri="{FF2B5EF4-FFF2-40B4-BE49-F238E27FC236}">
                <a16:creationId xmlns:a16="http://schemas.microsoft.com/office/drawing/2014/main" id="{277BFEC5-7065-254F-74D8-A0C389AA69A0}"/>
              </a:ext>
            </a:extLst>
          </p:cNvPr>
          <p:cNvSpPr txBox="1"/>
          <p:nvPr/>
        </p:nvSpPr>
        <p:spPr>
          <a:xfrm>
            <a:off x="651564" y="505906"/>
            <a:ext cx="2487497" cy="400110"/>
          </a:xfrm>
          <a:prstGeom prst="rect">
            <a:avLst/>
          </a:prstGeom>
          <a:noFill/>
        </p:spPr>
        <p:txBody>
          <a:bodyPr wrap="square" rtlCol="0">
            <a:spAutoFit/>
          </a:bodyPr>
          <a:lstStyle/>
          <a:p>
            <a:r>
              <a:rPr lang="fr-FR" sz="2000" b="1" dirty="0"/>
              <a:t>Méthodologie</a:t>
            </a:r>
          </a:p>
        </p:txBody>
      </p:sp>
      <p:sp>
        <p:nvSpPr>
          <p:cNvPr id="34" name="ZoneTexte 33">
            <a:extLst>
              <a:ext uri="{FF2B5EF4-FFF2-40B4-BE49-F238E27FC236}">
                <a16:creationId xmlns:a16="http://schemas.microsoft.com/office/drawing/2014/main" id="{1D80DDBB-EF42-46ED-1BA4-30D5A6610E01}"/>
              </a:ext>
            </a:extLst>
          </p:cNvPr>
          <p:cNvSpPr txBox="1"/>
          <p:nvPr/>
        </p:nvSpPr>
        <p:spPr>
          <a:xfrm>
            <a:off x="651564" y="2339414"/>
            <a:ext cx="2975158" cy="1384995"/>
          </a:xfrm>
          <a:prstGeom prst="rect">
            <a:avLst/>
          </a:prstGeom>
          <a:noFill/>
        </p:spPr>
        <p:txBody>
          <a:bodyPr wrap="square" rtlCol="0">
            <a:spAutoFit/>
          </a:bodyPr>
          <a:lstStyle/>
          <a:p>
            <a:r>
              <a:rPr lang="fr-FR" dirty="0"/>
              <a:t>Modèles : -Arbres de Décision</a:t>
            </a:r>
          </a:p>
          <a:p>
            <a:r>
              <a:rPr lang="fr-FR" dirty="0"/>
              <a:t>                -Naïves bayes</a:t>
            </a:r>
          </a:p>
          <a:p>
            <a:r>
              <a:rPr lang="fr-FR" dirty="0"/>
              <a:t>                 -Random Forest</a:t>
            </a:r>
          </a:p>
          <a:p>
            <a:r>
              <a:rPr lang="fr-FR" dirty="0"/>
              <a:t>                  -Xgboost</a:t>
            </a:r>
          </a:p>
          <a:p>
            <a:r>
              <a:rPr lang="fr-FR" dirty="0"/>
              <a:t>                   </a:t>
            </a:r>
          </a:p>
          <a:p>
            <a:endParaRPr lang="fr-FR" dirty="0"/>
          </a:p>
        </p:txBody>
      </p:sp>
    </p:spTree>
    <p:extLst>
      <p:ext uri="{BB962C8B-B14F-4D97-AF65-F5344CB8AC3E}">
        <p14:creationId xmlns:p14="http://schemas.microsoft.com/office/powerpoint/2010/main" val="17213376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923BBDE-50E0-35F3-974C-FFD7D6526E2F}"/>
              </a:ext>
            </a:extLst>
          </p:cNvPr>
          <p:cNvSpPr>
            <a:spLocks noGrp="1"/>
          </p:cNvSpPr>
          <p:nvPr>
            <p:ph type="title"/>
          </p:nvPr>
        </p:nvSpPr>
        <p:spPr/>
        <p:txBody>
          <a:bodyPr>
            <a:normAutofit fontScale="90000"/>
          </a:bodyPr>
          <a:lstStyle/>
          <a:p>
            <a:r>
              <a:rPr lang="fr-FR" dirty="0"/>
              <a:t>Expérimentation: Recommandation d’actions</a:t>
            </a:r>
          </a:p>
        </p:txBody>
      </p:sp>
      <p:sp>
        <p:nvSpPr>
          <p:cNvPr id="3" name="Espace réservé du texte 2">
            <a:extLst>
              <a:ext uri="{FF2B5EF4-FFF2-40B4-BE49-F238E27FC236}">
                <a16:creationId xmlns:a16="http://schemas.microsoft.com/office/drawing/2014/main" id="{FE69CF82-0FDC-664E-082C-727944E8BCC4}"/>
              </a:ext>
            </a:extLst>
          </p:cNvPr>
          <p:cNvSpPr>
            <a:spLocks noGrp="1"/>
          </p:cNvSpPr>
          <p:nvPr>
            <p:ph type="body" idx="1"/>
          </p:nvPr>
        </p:nvSpPr>
        <p:spPr/>
        <p:txBody>
          <a:bodyPr/>
          <a:lstStyle/>
          <a:p>
            <a:pPr marL="120650" indent="0">
              <a:buNone/>
            </a:pPr>
            <a:r>
              <a:rPr lang="fr-FR" dirty="0"/>
              <a:t>Lors de l'analyse, une question s'est posée :</a:t>
            </a:r>
            <a:br>
              <a:rPr lang="fr-FR" dirty="0"/>
            </a:br>
            <a:r>
              <a:rPr lang="fr-FR" b="1" dirty="0"/>
              <a:t>Est-il pertinent de combiner les données des projets de tramway et de comédie musicale pour entraîner un modèle plus généraliste ?</a:t>
            </a:r>
            <a:br>
              <a:rPr lang="fr-FR" dirty="0"/>
            </a:br>
            <a:endParaRPr lang="fr-FR" dirty="0"/>
          </a:p>
          <a:p>
            <a:pPr marL="120650" indent="0">
              <a:buNone/>
            </a:pPr>
            <a:r>
              <a:rPr lang="fr-FR" dirty="0"/>
              <a:t>Cela soulève la possibilité de créer un modèle unique qui pourrait mieux </a:t>
            </a:r>
            <a:r>
              <a:rPr lang="fr-FR" b="1" dirty="0"/>
              <a:t>généraliser</a:t>
            </a:r>
            <a:r>
              <a:rPr lang="fr-FR" dirty="0"/>
              <a:t> à des projets divers, en intégrant des risques variés et en offrant des recommandations d'actions adaptées</a:t>
            </a:r>
          </a:p>
        </p:txBody>
      </p:sp>
      <p:sp>
        <p:nvSpPr>
          <p:cNvPr id="4" name="Espace réservé du numéro de diapositive 3">
            <a:extLst>
              <a:ext uri="{FF2B5EF4-FFF2-40B4-BE49-F238E27FC236}">
                <a16:creationId xmlns:a16="http://schemas.microsoft.com/office/drawing/2014/main" id="{F0BDF684-3021-35B9-9276-EB27E9D8B93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23</a:t>
            </a:fld>
            <a:endParaRPr lang="en-GB"/>
          </a:p>
        </p:txBody>
      </p:sp>
      <p:sp>
        <p:nvSpPr>
          <p:cNvPr id="5" name="Ellipse 4">
            <a:extLst>
              <a:ext uri="{FF2B5EF4-FFF2-40B4-BE49-F238E27FC236}">
                <a16:creationId xmlns:a16="http://schemas.microsoft.com/office/drawing/2014/main" id="{1CE827C8-C98F-0E4D-6CE1-DAB2B7178BAC}"/>
              </a:ext>
            </a:extLst>
          </p:cNvPr>
          <p:cNvSpPr/>
          <p:nvPr/>
        </p:nvSpPr>
        <p:spPr>
          <a:xfrm>
            <a:off x="79592" y="4530000"/>
            <a:ext cx="1581568" cy="6135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6238563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DCC2301-F3C2-826F-FFA6-4EDAAA55661A}"/>
              </a:ext>
            </a:extLst>
          </p:cNvPr>
          <p:cNvSpPr>
            <a:spLocks noGrp="1"/>
          </p:cNvSpPr>
          <p:nvPr>
            <p:ph type="title"/>
          </p:nvPr>
        </p:nvSpPr>
        <p:spPr/>
        <p:txBody>
          <a:bodyPr>
            <a:normAutofit fontScale="90000"/>
          </a:bodyPr>
          <a:lstStyle/>
          <a:p>
            <a:r>
              <a:rPr lang="fr-FR" dirty="0"/>
              <a:t>Expérimentation: Recommandation d’actions</a:t>
            </a:r>
          </a:p>
        </p:txBody>
      </p:sp>
      <p:sp>
        <p:nvSpPr>
          <p:cNvPr id="3" name="Espace réservé du texte 2">
            <a:extLst>
              <a:ext uri="{FF2B5EF4-FFF2-40B4-BE49-F238E27FC236}">
                <a16:creationId xmlns:a16="http://schemas.microsoft.com/office/drawing/2014/main" id="{C4426E69-4B0C-FF75-D950-850B42315572}"/>
              </a:ext>
            </a:extLst>
          </p:cNvPr>
          <p:cNvSpPr>
            <a:spLocks noGrp="1"/>
          </p:cNvSpPr>
          <p:nvPr>
            <p:ph type="body" idx="1"/>
          </p:nvPr>
        </p:nvSpPr>
        <p:spPr/>
        <p:txBody>
          <a:bodyPr/>
          <a:lstStyle/>
          <a:p>
            <a:r>
              <a:rPr lang="fr-FR" b="1" dirty="0"/>
              <a:t>ANALYSE DE DONNEES </a:t>
            </a:r>
          </a:p>
        </p:txBody>
      </p:sp>
      <p:sp>
        <p:nvSpPr>
          <p:cNvPr id="4" name="Espace réservé du numéro de diapositive 3">
            <a:extLst>
              <a:ext uri="{FF2B5EF4-FFF2-40B4-BE49-F238E27FC236}">
                <a16:creationId xmlns:a16="http://schemas.microsoft.com/office/drawing/2014/main" id="{C84D7E6A-328D-DD67-92DC-298E8325BA3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24</a:t>
            </a:fld>
            <a:endParaRPr lang="en-GB"/>
          </a:p>
        </p:txBody>
      </p:sp>
      <p:pic>
        <p:nvPicPr>
          <p:cNvPr id="14" name="Image 13" descr="Une image contenant texte, capture d’écran, diagramme, motif&#10;&#10;Le contenu généré par l’IA peut être incorrect.">
            <a:extLst>
              <a:ext uri="{FF2B5EF4-FFF2-40B4-BE49-F238E27FC236}">
                <a16:creationId xmlns:a16="http://schemas.microsoft.com/office/drawing/2014/main" id="{CBF275E3-8432-EB70-642A-F14B8445846C}"/>
              </a:ext>
            </a:extLst>
          </p:cNvPr>
          <p:cNvPicPr>
            <a:picLocks noChangeAspect="1"/>
          </p:cNvPicPr>
          <p:nvPr/>
        </p:nvPicPr>
        <p:blipFill>
          <a:blip r:embed="rId2"/>
          <a:stretch>
            <a:fillRect/>
          </a:stretch>
        </p:blipFill>
        <p:spPr>
          <a:xfrm>
            <a:off x="79592" y="2006413"/>
            <a:ext cx="4097651" cy="3043536"/>
          </a:xfrm>
          <a:prstGeom prst="rect">
            <a:avLst/>
          </a:prstGeom>
        </p:spPr>
      </p:pic>
      <p:pic>
        <p:nvPicPr>
          <p:cNvPr id="16" name="Image 15" descr="Une image contenant texte, capture d’écran, Police, nombre&#10;&#10;Le contenu généré par l’IA peut être incorrect.">
            <a:extLst>
              <a:ext uri="{FF2B5EF4-FFF2-40B4-BE49-F238E27FC236}">
                <a16:creationId xmlns:a16="http://schemas.microsoft.com/office/drawing/2014/main" id="{90137F4D-6F40-FE19-3210-2665D905426D}"/>
              </a:ext>
            </a:extLst>
          </p:cNvPr>
          <p:cNvPicPr>
            <a:picLocks noChangeAspect="1"/>
          </p:cNvPicPr>
          <p:nvPr/>
        </p:nvPicPr>
        <p:blipFill>
          <a:blip r:embed="rId3"/>
          <a:stretch>
            <a:fillRect/>
          </a:stretch>
        </p:blipFill>
        <p:spPr>
          <a:xfrm>
            <a:off x="4857734" y="1854011"/>
            <a:ext cx="3201476" cy="2769606"/>
          </a:xfrm>
          <a:prstGeom prst="rect">
            <a:avLst/>
          </a:prstGeom>
        </p:spPr>
      </p:pic>
    </p:spTree>
    <p:extLst>
      <p:ext uri="{BB962C8B-B14F-4D97-AF65-F5344CB8AC3E}">
        <p14:creationId xmlns:p14="http://schemas.microsoft.com/office/powerpoint/2010/main" val="3759813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7B648-5CFD-1578-0EA2-D6785FB6D3F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A4DEE3F-5254-01BF-9B13-3EA62910EE09}"/>
              </a:ext>
            </a:extLst>
          </p:cNvPr>
          <p:cNvSpPr>
            <a:spLocks noGrp="1"/>
          </p:cNvSpPr>
          <p:nvPr>
            <p:ph type="title"/>
          </p:nvPr>
        </p:nvSpPr>
        <p:spPr/>
        <p:txBody>
          <a:bodyPr>
            <a:normAutofit fontScale="90000"/>
          </a:bodyPr>
          <a:lstStyle/>
          <a:p>
            <a:r>
              <a:rPr lang="fr-FR" dirty="0"/>
              <a:t>Expérimentation: Recommandation d’actions</a:t>
            </a:r>
          </a:p>
        </p:txBody>
      </p:sp>
      <p:sp>
        <p:nvSpPr>
          <p:cNvPr id="3" name="Espace réservé du texte 2">
            <a:extLst>
              <a:ext uri="{FF2B5EF4-FFF2-40B4-BE49-F238E27FC236}">
                <a16:creationId xmlns:a16="http://schemas.microsoft.com/office/drawing/2014/main" id="{E9E3FA1B-8E46-71FD-7592-7EAC5C5297A9}"/>
              </a:ext>
            </a:extLst>
          </p:cNvPr>
          <p:cNvSpPr>
            <a:spLocks noGrp="1"/>
          </p:cNvSpPr>
          <p:nvPr>
            <p:ph type="body" idx="1"/>
          </p:nvPr>
        </p:nvSpPr>
        <p:spPr/>
        <p:txBody>
          <a:bodyPr/>
          <a:lstStyle/>
          <a:p>
            <a:r>
              <a:rPr lang="fr-FR" b="1" dirty="0"/>
              <a:t>ANALYSE DE DONNEES </a:t>
            </a:r>
          </a:p>
        </p:txBody>
      </p:sp>
      <p:sp>
        <p:nvSpPr>
          <p:cNvPr id="4" name="Espace réservé du numéro de diapositive 3">
            <a:extLst>
              <a:ext uri="{FF2B5EF4-FFF2-40B4-BE49-F238E27FC236}">
                <a16:creationId xmlns:a16="http://schemas.microsoft.com/office/drawing/2014/main" id="{2A72036C-0191-48CB-3402-CCD08161CBB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25</a:t>
            </a:fld>
            <a:endParaRPr lang="en-GB"/>
          </a:p>
        </p:txBody>
      </p:sp>
      <p:pic>
        <p:nvPicPr>
          <p:cNvPr id="7" name="Image 6" descr="Une image contenant texte, capture d’écran, Police, nombre&#10;&#10;Le contenu généré par l’IA peut être incorrect.">
            <a:extLst>
              <a:ext uri="{FF2B5EF4-FFF2-40B4-BE49-F238E27FC236}">
                <a16:creationId xmlns:a16="http://schemas.microsoft.com/office/drawing/2014/main" id="{8A20EA1D-E8A7-DB6E-C3D4-B04CBE302ABB}"/>
              </a:ext>
            </a:extLst>
          </p:cNvPr>
          <p:cNvPicPr>
            <a:picLocks noChangeAspect="1"/>
          </p:cNvPicPr>
          <p:nvPr/>
        </p:nvPicPr>
        <p:blipFill>
          <a:blip r:embed="rId2"/>
          <a:stretch>
            <a:fillRect/>
          </a:stretch>
        </p:blipFill>
        <p:spPr>
          <a:xfrm>
            <a:off x="0" y="1440149"/>
            <a:ext cx="9144000" cy="1932715"/>
          </a:xfrm>
          <a:prstGeom prst="rect">
            <a:avLst/>
          </a:prstGeom>
        </p:spPr>
      </p:pic>
      <p:pic>
        <p:nvPicPr>
          <p:cNvPr id="11" name="Image 10" descr="Une image contenant texte, Police, capture d’écran, nombre&#10;&#10;Le contenu généré par l’IA peut être incorrect.">
            <a:extLst>
              <a:ext uri="{FF2B5EF4-FFF2-40B4-BE49-F238E27FC236}">
                <a16:creationId xmlns:a16="http://schemas.microsoft.com/office/drawing/2014/main" id="{2C017594-F6C3-CE51-A1A3-ABECD027C0C5}"/>
              </a:ext>
            </a:extLst>
          </p:cNvPr>
          <p:cNvPicPr>
            <a:picLocks noChangeAspect="1"/>
          </p:cNvPicPr>
          <p:nvPr/>
        </p:nvPicPr>
        <p:blipFill>
          <a:blip r:embed="rId3"/>
          <a:stretch>
            <a:fillRect/>
          </a:stretch>
        </p:blipFill>
        <p:spPr>
          <a:xfrm>
            <a:off x="42804" y="3372864"/>
            <a:ext cx="9144000" cy="1932715"/>
          </a:xfrm>
          <a:prstGeom prst="rect">
            <a:avLst/>
          </a:prstGeom>
        </p:spPr>
      </p:pic>
    </p:spTree>
    <p:extLst>
      <p:ext uri="{BB962C8B-B14F-4D97-AF65-F5344CB8AC3E}">
        <p14:creationId xmlns:p14="http://schemas.microsoft.com/office/powerpoint/2010/main" val="28044443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4B8CF-4A67-5F55-D564-805901090DC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212AD4F-D02A-2AC7-0DD7-FEE2ACEA3021}"/>
              </a:ext>
            </a:extLst>
          </p:cNvPr>
          <p:cNvSpPr>
            <a:spLocks noGrp="1"/>
          </p:cNvSpPr>
          <p:nvPr>
            <p:ph type="title"/>
          </p:nvPr>
        </p:nvSpPr>
        <p:spPr/>
        <p:txBody>
          <a:bodyPr>
            <a:normAutofit fontScale="90000"/>
          </a:bodyPr>
          <a:lstStyle/>
          <a:p>
            <a:r>
              <a:rPr lang="fr-FR" dirty="0"/>
              <a:t>Expérimentation: Recommandation d’actions</a:t>
            </a:r>
          </a:p>
        </p:txBody>
      </p:sp>
      <p:sp>
        <p:nvSpPr>
          <p:cNvPr id="3" name="Espace réservé du texte 2">
            <a:extLst>
              <a:ext uri="{FF2B5EF4-FFF2-40B4-BE49-F238E27FC236}">
                <a16:creationId xmlns:a16="http://schemas.microsoft.com/office/drawing/2014/main" id="{2CD24667-816C-68F5-5C7A-BD04282E9C89}"/>
              </a:ext>
            </a:extLst>
          </p:cNvPr>
          <p:cNvSpPr>
            <a:spLocks noGrp="1"/>
          </p:cNvSpPr>
          <p:nvPr>
            <p:ph type="body" idx="1"/>
          </p:nvPr>
        </p:nvSpPr>
        <p:spPr/>
        <p:txBody>
          <a:bodyPr/>
          <a:lstStyle/>
          <a:p>
            <a:r>
              <a:rPr lang="fr-FR" b="1" dirty="0"/>
              <a:t>ANALYSE DE DONNEES </a:t>
            </a:r>
          </a:p>
        </p:txBody>
      </p:sp>
      <p:sp>
        <p:nvSpPr>
          <p:cNvPr id="4" name="Espace réservé du numéro de diapositive 3">
            <a:extLst>
              <a:ext uri="{FF2B5EF4-FFF2-40B4-BE49-F238E27FC236}">
                <a16:creationId xmlns:a16="http://schemas.microsoft.com/office/drawing/2014/main" id="{6AE242CD-EAB9-529B-5899-D21BFCB36E2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26</a:t>
            </a:fld>
            <a:endParaRPr lang="en-GB"/>
          </a:p>
        </p:txBody>
      </p:sp>
      <p:pic>
        <p:nvPicPr>
          <p:cNvPr id="6" name="Image 5">
            <a:extLst>
              <a:ext uri="{FF2B5EF4-FFF2-40B4-BE49-F238E27FC236}">
                <a16:creationId xmlns:a16="http://schemas.microsoft.com/office/drawing/2014/main" id="{99B54955-5F0C-9251-CC89-2208308CC47B}"/>
              </a:ext>
            </a:extLst>
          </p:cNvPr>
          <p:cNvPicPr>
            <a:picLocks noChangeAspect="1"/>
          </p:cNvPicPr>
          <p:nvPr/>
        </p:nvPicPr>
        <p:blipFill>
          <a:blip r:embed="rId2"/>
          <a:stretch>
            <a:fillRect/>
          </a:stretch>
        </p:blipFill>
        <p:spPr>
          <a:xfrm>
            <a:off x="-318571" y="1798751"/>
            <a:ext cx="5129620" cy="2283214"/>
          </a:xfrm>
          <a:prstGeom prst="rect">
            <a:avLst/>
          </a:prstGeom>
        </p:spPr>
      </p:pic>
      <p:pic>
        <p:nvPicPr>
          <p:cNvPr id="8" name="Image 7">
            <a:extLst>
              <a:ext uri="{FF2B5EF4-FFF2-40B4-BE49-F238E27FC236}">
                <a16:creationId xmlns:a16="http://schemas.microsoft.com/office/drawing/2014/main" id="{C41E9CD1-1A67-3F33-4773-567796E0D9C3}"/>
              </a:ext>
            </a:extLst>
          </p:cNvPr>
          <p:cNvPicPr>
            <a:picLocks noChangeAspect="1"/>
          </p:cNvPicPr>
          <p:nvPr/>
        </p:nvPicPr>
        <p:blipFill>
          <a:blip r:embed="rId3"/>
          <a:stretch>
            <a:fillRect/>
          </a:stretch>
        </p:blipFill>
        <p:spPr>
          <a:xfrm>
            <a:off x="4636611" y="1798750"/>
            <a:ext cx="4997843" cy="2502747"/>
          </a:xfrm>
          <a:prstGeom prst="rect">
            <a:avLst/>
          </a:prstGeom>
        </p:spPr>
      </p:pic>
    </p:spTree>
    <p:extLst>
      <p:ext uri="{BB962C8B-B14F-4D97-AF65-F5344CB8AC3E}">
        <p14:creationId xmlns:p14="http://schemas.microsoft.com/office/powerpoint/2010/main" val="40664890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96347D-9C89-4799-4D66-3E4D5E2A0CF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1A92C74-D77A-61CB-43C3-86638A6297C3}"/>
              </a:ext>
            </a:extLst>
          </p:cNvPr>
          <p:cNvSpPr>
            <a:spLocks noGrp="1"/>
          </p:cNvSpPr>
          <p:nvPr>
            <p:ph type="title"/>
          </p:nvPr>
        </p:nvSpPr>
        <p:spPr/>
        <p:txBody>
          <a:bodyPr>
            <a:normAutofit fontScale="90000"/>
          </a:bodyPr>
          <a:lstStyle/>
          <a:p>
            <a:r>
              <a:rPr lang="fr-FR" dirty="0"/>
              <a:t>Expérimentation: Recommandation d’actions</a:t>
            </a:r>
          </a:p>
        </p:txBody>
      </p:sp>
      <p:sp>
        <p:nvSpPr>
          <p:cNvPr id="3" name="Espace réservé du texte 2">
            <a:extLst>
              <a:ext uri="{FF2B5EF4-FFF2-40B4-BE49-F238E27FC236}">
                <a16:creationId xmlns:a16="http://schemas.microsoft.com/office/drawing/2014/main" id="{A2FADA47-1BAB-5EA8-CCF1-CEEE2D5A3F79}"/>
              </a:ext>
            </a:extLst>
          </p:cNvPr>
          <p:cNvSpPr>
            <a:spLocks noGrp="1"/>
          </p:cNvSpPr>
          <p:nvPr>
            <p:ph type="body" idx="1"/>
          </p:nvPr>
        </p:nvSpPr>
        <p:spPr/>
        <p:txBody>
          <a:bodyPr/>
          <a:lstStyle/>
          <a:p>
            <a:r>
              <a:rPr lang="fr-FR" b="1" dirty="0"/>
              <a:t>ANALYSE DE DONNEES </a:t>
            </a:r>
          </a:p>
        </p:txBody>
      </p:sp>
      <p:sp>
        <p:nvSpPr>
          <p:cNvPr id="4" name="Espace réservé du numéro de diapositive 3">
            <a:extLst>
              <a:ext uri="{FF2B5EF4-FFF2-40B4-BE49-F238E27FC236}">
                <a16:creationId xmlns:a16="http://schemas.microsoft.com/office/drawing/2014/main" id="{25CFDC88-B192-8C33-8486-91B7B8C59FA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t>27</a:t>
            </a:fld>
            <a:endParaRPr lang="en-GB"/>
          </a:p>
        </p:txBody>
      </p:sp>
      <p:pic>
        <p:nvPicPr>
          <p:cNvPr id="10" name="Image 9">
            <a:extLst>
              <a:ext uri="{FF2B5EF4-FFF2-40B4-BE49-F238E27FC236}">
                <a16:creationId xmlns:a16="http://schemas.microsoft.com/office/drawing/2014/main" id="{150784FC-ECD5-9B1A-112B-A5B3B9466AD7}"/>
              </a:ext>
            </a:extLst>
          </p:cNvPr>
          <p:cNvPicPr>
            <a:picLocks noChangeAspect="1"/>
          </p:cNvPicPr>
          <p:nvPr/>
        </p:nvPicPr>
        <p:blipFill>
          <a:blip r:embed="rId2"/>
          <a:stretch>
            <a:fillRect/>
          </a:stretch>
        </p:blipFill>
        <p:spPr>
          <a:xfrm>
            <a:off x="1757097" y="1688019"/>
            <a:ext cx="5992061" cy="3019846"/>
          </a:xfrm>
          <a:prstGeom prst="rect">
            <a:avLst/>
          </a:prstGeom>
        </p:spPr>
      </p:pic>
    </p:spTree>
    <p:extLst>
      <p:ext uri="{BB962C8B-B14F-4D97-AF65-F5344CB8AC3E}">
        <p14:creationId xmlns:p14="http://schemas.microsoft.com/office/powerpoint/2010/main" val="40717771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1FCB20F4-2883-DE0A-A075-A46B18D328DD}"/>
            </a:ext>
          </a:extLst>
        </p:cNvPr>
        <p:cNvGrpSpPr/>
        <p:nvPr/>
      </p:nvGrpSpPr>
      <p:grpSpPr>
        <a:xfrm>
          <a:off x="0" y="0"/>
          <a:ext cx="0" cy="0"/>
          <a:chOff x="0" y="0"/>
          <a:chExt cx="0" cy="0"/>
        </a:xfrm>
      </p:grpSpPr>
      <p:sp>
        <p:nvSpPr>
          <p:cNvPr id="131" name="Google Shape;131;p23">
            <a:extLst>
              <a:ext uri="{FF2B5EF4-FFF2-40B4-BE49-F238E27FC236}">
                <a16:creationId xmlns:a16="http://schemas.microsoft.com/office/drawing/2014/main" id="{7447DBDE-6F36-94CF-ECDB-A175BBE3EC8B}"/>
              </a:ext>
            </a:extLst>
          </p:cNvPr>
          <p:cNvSpPr txBox="1">
            <a:spLocks noGrp="1"/>
          </p:cNvSpPr>
          <p:nvPr>
            <p:ph type="title"/>
          </p:nvPr>
        </p:nvSpPr>
        <p:spPr>
          <a:xfrm>
            <a:off x="311700" y="3172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dirty="0"/>
              <a:t>Résultats et analyse : Identifications des risques</a:t>
            </a:r>
            <a:endParaRPr dirty="0"/>
          </a:p>
        </p:txBody>
      </p:sp>
      <p:sp>
        <p:nvSpPr>
          <p:cNvPr id="133" name="Google Shape;133;p23">
            <a:extLst>
              <a:ext uri="{FF2B5EF4-FFF2-40B4-BE49-F238E27FC236}">
                <a16:creationId xmlns:a16="http://schemas.microsoft.com/office/drawing/2014/main" id="{5DC5F86F-E9C3-577B-CC73-981CC3DF12D7}"/>
              </a:ext>
            </a:extLst>
          </p:cNvPr>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28</a:t>
            </a:fld>
            <a:endParaRPr/>
          </a:p>
        </p:txBody>
      </p:sp>
      <p:sp>
        <p:nvSpPr>
          <p:cNvPr id="3" name="Ellipse 2">
            <a:extLst>
              <a:ext uri="{FF2B5EF4-FFF2-40B4-BE49-F238E27FC236}">
                <a16:creationId xmlns:a16="http://schemas.microsoft.com/office/drawing/2014/main" id="{2D56287D-2FC5-2E02-FEFF-7BE4D99A9FE8}"/>
              </a:ext>
            </a:extLst>
          </p:cNvPr>
          <p:cNvSpPr/>
          <p:nvPr/>
        </p:nvSpPr>
        <p:spPr>
          <a:xfrm>
            <a:off x="0" y="4530000"/>
            <a:ext cx="1661160" cy="6135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ZoneTexte 5">
            <a:extLst>
              <a:ext uri="{FF2B5EF4-FFF2-40B4-BE49-F238E27FC236}">
                <a16:creationId xmlns:a16="http://schemas.microsoft.com/office/drawing/2014/main" id="{9B4BB720-212F-C1B9-AA1E-A0AF35CB8AE4}"/>
              </a:ext>
            </a:extLst>
          </p:cNvPr>
          <p:cNvSpPr txBox="1"/>
          <p:nvPr/>
        </p:nvSpPr>
        <p:spPr>
          <a:xfrm>
            <a:off x="311700" y="1329848"/>
            <a:ext cx="8752708" cy="2246769"/>
          </a:xfrm>
          <a:prstGeom prst="rect">
            <a:avLst/>
          </a:prstGeom>
          <a:noFill/>
        </p:spPr>
        <p:txBody>
          <a:bodyPr wrap="square" rtlCol="0">
            <a:spAutoFit/>
          </a:bodyPr>
          <a:lstStyle/>
          <a:p>
            <a:r>
              <a:rPr lang="fr-FR" dirty="0"/>
              <a:t>Sur 20 propositions générées par l'IA :</a:t>
            </a:r>
          </a:p>
          <a:p>
            <a:r>
              <a:rPr lang="fr-FR" b="1" dirty="0"/>
              <a:t>65%</a:t>
            </a:r>
            <a:r>
              <a:rPr lang="fr-FR" dirty="0"/>
              <a:t> des propositions ont été jugées </a:t>
            </a:r>
            <a:r>
              <a:rPr lang="fr-FR" b="1" dirty="0"/>
              <a:t>pertinentes</a:t>
            </a:r>
            <a:r>
              <a:rPr lang="fr-FR" dirty="0"/>
              <a:t> et acceptées par les experts.</a:t>
            </a:r>
          </a:p>
          <a:p>
            <a:r>
              <a:rPr lang="fr-FR" b="1" dirty="0"/>
              <a:t>35%</a:t>
            </a:r>
            <a:r>
              <a:rPr lang="fr-FR" dirty="0"/>
              <a:t> ont été </a:t>
            </a:r>
            <a:r>
              <a:rPr lang="fr-FR" b="1" dirty="0"/>
              <a:t>rejetées</a:t>
            </a:r>
            <a:r>
              <a:rPr lang="fr-FR" dirty="0"/>
              <a:t> (hors périmètre ou non applicables).</a:t>
            </a:r>
          </a:p>
          <a:p>
            <a:r>
              <a:rPr lang="fr-FR" b="1" dirty="0"/>
              <a:t>5%</a:t>
            </a:r>
            <a:r>
              <a:rPr lang="fr-FR" dirty="0"/>
              <a:t> des propositions sont à </a:t>
            </a:r>
            <a:r>
              <a:rPr lang="fr-FR" b="1" dirty="0"/>
              <a:t>instruire</a:t>
            </a:r>
            <a:r>
              <a:rPr lang="fr-FR" dirty="0"/>
              <a:t> (nouveau risque non tranché).</a:t>
            </a:r>
          </a:p>
          <a:p>
            <a:r>
              <a:rPr lang="fr-FR" b="1" dirty="0"/>
              <a:t>Recouvrement avec les risques existants</a:t>
            </a:r>
            <a:r>
              <a:rPr lang="fr-FR" dirty="0"/>
              <a:t> :</a:t>
            </a:r>
          </a:p>
          <a:p>
            <a:endParaRPr lang="fr-FR" dirty="0"/>
          </a:p>
          <a:p>
            <a:r>
              <a:rPr lang="fr-FR" b="1" dirty="0"/>
              <a:t>33,3%</a:t>
            </a:r>
            <a:r>
              <a:rPr lang="fr-FR" dirty="0"/>
              <a:t> des risques ont été retrouvés à l’identique.</a:t>
            </a:r>
          </a:p>
          <a:p>
            <a:r>
              <a:rPr lang="fr-FR" b="1" dirty="0"/>
              <a:t>16,7%</a:t>
            </a:r>
            <a:r>
              <a:rPr lang="fr-FR" dirty="0"/>
              <a:t> ont été dérivés ou considérés comme des conséquences d’autres risques.</a:t>
            </a:r>
          </a:p>
          <a:p>
            <a:r>
              <a:rPr lang="fr-FR" b="1" dirty="0"/>
              <a:t>33,3%</a:t>
            </a:r>
            <a:r>
              <a:rPr lang="fr-FR" dirty="0"/>
              <a:t> n’étaient </a:t>
            </a:r>
            <a:r>
              <a:rPr lang="fr-FR" b="1" dirty="0"/>
              <a:t>pas détectables</a:t>
            </a:r>
            <a:r>
              <a:rPr lang="fr-FR" dirty="0"/>
              <a:t> dans le document source</a:t>
            </a:r>
          </a:p>
          <a:p>
            <a:endParaRPr lang="fr-FR" dirty="0"/>
          </a:p>
        </p:txBody>
      </p:sp>
    </p:spTree>
    <p:extLst>
      <p:ext uri="{BB962C8B-B14F-4D97-AF65-F5344CB8AC3E}">
        <p14:creationId xmlns:p14="http://schemas.microsoft.com/office/powerpoint/2010/main" val="38885825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2813B483-816C-AD5D-2A55-7D533D3BDD0C}"/>
            </a:ext>
          </a:extLst>
        </p:cNvPr>
        <p:cNvGrpSpPr/>
        <p:nvPr/>
      </p:nvGrpSpPr>
      <p:grpSpPr>
        <a:xfrm>
          <a:off x="0" y="0"/>
          <a:ext cx="0" cy="0"/>
          <a:chOff x="0" y="0"/>
          <a:chExt cx="0" cy="0"/>
        </a:xfrm>
      </p:grpSpPr>
      <p:sp>
        <p:nvSpPr>
          <p:cNvPr id="131" name="Google Shape;131;p23">
            <a:extLst>
              <a:ext uri="{FF2B5EF4-FFF2-40B4-BE49-F238E27FC236}">
                <a16:creationId xmlns:a16="http://schemas.microsoft.com/office/drawing/2014/main" id="{9333F85C-34AF-DF6D-A01A-E335FDC0656C}"/>
              </a:ext>
            </a:extLst>
          </p:cNvPr>
          <p:cNvSpPr txBox="1">
            <a:spLocks noGrp="1"/>
          </p:cNvSpPr>
          <p:nvPr>
            <p:ph type="title"/>
          </p:nvPr>
        </p:nvSpPr>
        <p:spPr>
          <a:xfrm>
            <a:off x="311700" y="3172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dirty="0"/>
              <a:t>Résultats  : Recommandation d’actions</a:t>
            </a:r>
            <a:endParaRPr dirty="0"/>
          </a:p>
        </p:txBody>
      </p:sp>
      <p:sp>
        <p:nvSpPr>
          <p:cNvPr id="133" name="Google Shape;133;p23">
            <a:extLst>
              <a:ext uri="{FF2B5EF4-FFF2-40B4-BE49-F238E27FC236}">
                <a16:creationId xmlns:a16="http://schemas.microsoft.com/office/drawing/2014/main" id="{6558E220-6E9A-23A4-2CE9-C0C4BE0DD9D0}"/>
              </a:ext>
            </a:extLst>
          </p:cNvPr>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29</a:t>
            </a:fld>
            <a:endParaRPr/>
          </a:p>
        </p:txBody>
      </p:sp>
      <p:sp>
        <p:nvSpPr>
          <p:cNvPr id="3" name="Ellipse 2">
            <a:extLst>
              <a:ext uri="{FF2B5EF4-FFF2-40B4-BE49-F238E27FC236}">
                <a16:creationId xmlns:a16="http://schemas.microsoft.com/office/drawing/2014/main" id="{CB592108-8F6A-F3C2-4AE5-07AF5DCA8081}"/>
              </a:ext>
            </a:extLst>
          </p:cNvPr>
          <p:cNvSpPr/>
          <p:nvPr/>
        </p:nvSpPr>
        <p:spPr>
          <a:xfrm>
            <a:off x="0" y="4530000"/>
            <a:ext cx="1661160" cy="6135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4" name="Image 3">
            <a:extLst>
              <a:ext uri="{FF2B5EF4-FFF2-40B4-BE49-F238E27FC236}">
                <a16:creationId xmlns:a16="http://schemas.microsoft.com/office/drawing/2014/main" id="{6E6A1572-0250-DB3F-750C-933CA3DDBD27}"/>
              </a:ext>
            </a:extLst>
          </p:cNvPr>
          <p:cNvPicPr>
            <a:picLocks noChangeAspect="1"/>
          </p:cNvPicPr>
          <p:nvPr/>
        </p:nvPicPr>
        <p:blipFill>
          <a:blip r:embed="rId3"/>
          <a:stretch>
            <a:fillRect/>
          </a:stretch>
        </p:blipFill>
        <p:spPr>
          <a:xfrm>
            <a:off x="2857260" y="1620965"/>
            <a:ext cx="3429479" cy="2724530"/>
          </a:xfrm>
          <a:prstGeom prst="rect">
            <a:avLst/>
          </a:prstGeom>
        </p:spPr>
      </p:pic>
      <p:sp>
        <p:nvSpPr>
          <p:cNvPr id="5" name="ZoneTexte 4">
            <a:extLst>
              <a:ext uri="{FF2B5EF4-FFF2-40B4-BE49-F238E27FC236}">
                <a16:creationId xmlns:a16="http://schemas.microsoft.com/office/drawing/2014/main" id="{589E38BF-131B-5B71-4DEC-C41B81CB743E}"/>
              </a:ext>
            </a:extLst>
          </p:cNvPr>
          <p:cNvSpPr txBox="1"/>
          <p:nvPr/>
        </p:nvSpPr>
        <p:spPr>
          <a:xfrm>
            <a:off x="548640" y="1141511"/>
            <a:ext cx="2225040" cy="307777"/>
          </a:xfrm>
          <a:prstGeom prst="rect">
            <a:avLst/>
          </a:prstGeom>
          <a:noFill/>
        </p:spPr>
        <p:txBody>
          <a:bodyPr wrap="square" rtlCol="0">
            <a:spAutoFit/>
          </a:bodyPr>
          <a:lstStyle/>
          <a:p>
            <a:r>
              <a:rPr lang="fr-FR" dirty="0"/>
              <a:t>Cas Tramway</a:t>
            </a:r>
          </a:p>
        </p:txBody>
      </p:sp>
    </p:spTree>
    <p:extLst>
      <p:ext uri="{BB962C8B-B14F-4D97-AF65-F5344CB8AC3E}">
        <p14:creationId xmlns:p14="http://schemas.microsoft.com/office/powerpoint/2010/main" val="16772328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30">
          <a:extLst>
            <a:ext uri="{FF2B5EF4-FFF2-40B4-BE49-F238E27FC236}">
              <a16:creationId xmlns:a16="http://schemas.microsoft.com/office/drawing/2014/main" id="{03CABE00-BF10-7BD8-668B-FE2D1509A97B}"/>
            </a:ext>
          </a:extLst>
        </p:cNvPr>
        <p:cNvGrpSpPr/>
        <p:nvPr/>
      </p:nvGrpSpPr>
      <p:grpSpPr>
        <a:xfrm>
          <a:off x="0" y="0"/>
          <a:ext cx="0" cy="0"/>
          <a:chOff x="0" y="0"/>
          <a:chExt cx="0" cy="0"/>
        </a:xfrm>
      </p:grpSpPr>
      <p:sp>
        <p:nvSpPr>
          <p:cNvPr id="131" name="Google Shape;131;p23">
            <a:extLst>
              <a:ext uri="{FF2B5EF4-FFF2-40B4-BE49-F238E27FC236}">
                <a16:creationId xmlns:a16="http://schemas.microsoft.com/office/drawing/2014/main" id="{00F7CE49-C690-24D8-B25A-09FDC797A6CE}"/>
              </a:ext>
            </a:extLst>
          </p:cNvPr>
          <p:cNvSpPr txBox="1">
            <a:spLocks noGrp="1"/>
          </p:cNvSpPr>
          <p:nvPr>
            <p:ph type="title"/>
          </p:nvPr>
        </p:nvSpPr>
        <p:spPr>
          <a:xfrm>
            <a:off x="311700" y="3172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dirty="0"/>
              <a:t>Résultats : Recommandation d’actions</a:t>
            </a:r>
            <a:endParaRPr dirty="0"/>
          </a:p>
        </p:txBody>
      </p:sp>
      <p:sp>
        <p:nvSpPr>
          <p:cNvPr id="133" name="Google Shape;133;p23">
            <a:extLst>
              <a:ext uri="{FF2B5EF4-FFF2-40B4-BE49-F238E27FC236}">
                <a16:creationId xmlns:a16="http://schemas.microsoft.com/office/drawing/2014/main" id="{DE12EB12-759B-A4B5-E01B-39384B0C1630}"/>
              </a:ext>
            </a:extLst>
          </p:cNvPr>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30</a:t>
            </a:fld>
            <a:endParaRPr/>
          </a:p>
        </p:txBody>
      </p:sp>
      <p:sp>
        <p:nvSpPr>
          <p:cNvPr id="3" name="Ellipse 2">
            <a:extLst>
              <a:ext uri="{FF2B5EF4-FFF2-40B4-BE49-F238E27FC236}">
                <a16:creationId xmlns:a16="http://schemas.microsoft.com/office/drawing/2014/main" id="{BC69455C-1510-A75A-96F1-1CACFBC65099}"/>
              </a:ext>
            </a:extLst>
          </p:cNvPr>
          <p:cNvSpPr/>
          <p:nvPr/>
        </p:nvSpPr>
        <p:spPr>
          <a:xfrm>
            <a:off x="0" y="4530000"/>
            <a:ext cx="1661160" cy="6135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57925530-6DC7-A2FD-05A8-51830D4534FA}"/>
              </a:ext>
            </a:extLst>
          </p:cNvPr>
          <p:cNvSpPr txBox="1"/>
          <p:nvPr/>
        </p:nvSpPr>
        <p:spPr>
          <a:xfrm>
            <a:off x="548640" y="1141511"/>
            <a:ext cx="2225040" cy="307777"/>
          </a:xfrm>
          <a:prstGeom prst="rect">
            <a:avLst/>
          </a:prstGeom>
          <a:noFill/>
        </p:spPr>
        <p:txBody>
          <a:bodyPr wrap="square" rtlCol="0">
            <a:spAutoFit/>
          </a:bodyPr>
          <a:lstStyle/>
          <a:p>
            <a:r>
              <a:rPr lang="fr-FR" dirty="0"/>
              <a:t>Cas Tramway</a:t>
            </a:r>
          </a:p>
        </p:txBody>
      </p:sp>
      <p:pic>
        <p:nvPicPr>
          <p:cNvPr id="6" name="Image 5">
            <a:extLst>
              <a:ext uri="{FF2B5EF4-FFF2-40B4-BE49-F238E27FC236}">
                <a16:creationId xmlns:a16="http://schemas.microsoft.com/office/drawing/2014/main" id="{11605E84-DDE8-F1A0-ED5B-56235CE034D3}"/>
              </a:ext>
            </a:extLst>
          </p:cNvPr>
          <p:cNvPicPr>
            <a:picLocks noChangeAspect="1"/>
          </p:cNvPicPr>
          <p:nvPr/>
        </p:nvPicPr>
        <p:blipFill>
          <a:blip r:embed="rId3"/>
          <a:stretch>
            <a:fillRect/>
          </a:stretch>
        </p:blipFill>
        <p:spPr>
          <a:xfrm>
            <a:off x="2352365" y="1449288"/>
            <a:ext cx="4439270" cy="2934109"/>
          </a:xfrm>
          <a:prstGeom prst="rect">
            <a:avLst/>
          </a:prstGeom>
        </p:spPr>
      </p:pic>
    </p:spTree>
    <p:extLst>
      <p:ext uri="{BB962C8B-B14F-4D97-AF65-F5344CB8AC3E}">
        <p14:creationId xmlns:p14="http://schemas.microsoft.com/office/powerpoint/2010/main" val="34728563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3"/>
          <p:cNvSpPr txBox="1">
            <a:spLocks noGrp="1"/>
          </p:cNvSpPr>
          <p:nvPr>
            <p:ph type="title"/>
          </p:nvPr>
        </p:nvSpPr>
        <p:spPr>
          <a:xfrm>
            <a:off x="311700" y="317250"/>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dirty="0"/>
              <a:t>Résultats  : Recommandation d’actions</a:t>
            </a:r>
            <a:endParaRPr dirty="0"/>
          </a:p>
        </p:txBody>
      </p:sp>
      <p:sp>
        <p:nvSpPr>
          <p:cNvPr id="133" name="Google Shape;133;p23"/>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31</a:t>
            </a:fld>
            <a:endParaRPr/>
          </a:p>
        </p:txBody>
      </p:sp>
      <p:sp>
        <p:nvSpPr>
          <p:cNvPr id="3" name="Ellipse 2">
            <a:extLst>
              <a:ext uri="{FF2B5EF4-FFF2-40B4-BE49-F238E27FC236}">
                <a16:creationId xmlns:a16="http://schemas.microsoft.com/office/drawing/2014/main" id="{E240D326-BD51-4573-6FBA-A9DE71F64B1C}"/>
              </a:ext>
            </a:extLst>
          </p:cNvPr>
          <p:cNvSpPr/>
          <p:nvPr/>
        </p:nvSpPr>
        <p:spPr>
          <a:xfrm>
            <a:off x="0" y="4530000"/>
            <a:ext cx="1661160" cy="6135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7" name="Image 6">
            <a:extLst>
              <a:ext uri="{FF2B5EF4-FFF2-40B4-BE49-F238E27FC236}">
                <a16:creationId xmlns:a16="http://schemas.microsoft.com/office/drawing/2014/main" id="{691837FB-3523-5853-ED75-CBD361C46721}"/>
              </a:ext>
            </a:extLst>
          </p:cNvPr>
          <p:cNvPicPr>
            <a:picLocks noChangeAspect="1"/>
          </p:cNvPicPr>
          <p:nvPr/>
        </p:nvPicPr>
        <p:blipFill>
          <a:blip r:embed="rId3"/>
          <a:stretch>
            <a:fillRect/>
          </a:stretch>
        </p:blipFill>
        <p:spPr>
          <a:xfrm>
            <a:off x="1263480" y="1095655"/>
            <a:ext cx="6982799" cy="3448531"/>
          </a:xfrm>
          <a:prstGeom prst="rect">
            <a:avLst/>
          </a:prstGeom>
        </p:spPr>
      </p:pic>
      <p:sp>
        <p:nvSpPr>
          <p:cNvPr id="8" name="ZoneTexte 7">
            <a:extLst>
              <a:ext uri="{FF2B5EF4-FFF2-40B4-BE49-F238E27FC236}">
                <a16:creationId xmlns:a16="http://schemas.microsoft.com/office/drawing/2014/main" id="{A68CDF8F-228F-35B7-83F0-F51A173349F0}"/>
              </a:ext>
            </a:extLst>
          </p:cNvPr>
          <p:cNvSpPr txBox="1"/>
          <p:nvPr/>
        </p:nvSpPr>
        <p:spPr>
          <a:xfrm>
            <a:off x="548640" y="1141511"/>
            <a:ext cx="2225040" cy="307777"/>
          </a:xfrm>
          <a:prstGeom prst="rect">
            <a:avLst/>
          </a:prstGeom>
          <a:noFill/>
        </p:spPr>
        <p:txBody>
          <a:bodyPr wrap="square" rtlCol="0">
            <a:spAutoFit/>
          </a:bodyPr>
          <a:lstStyle/>
          <a:p>
            <a:r>
              <a:rPr lang="fr-FR" dirty="0"/>
              <a:t>Cas </a:t>
            </a:r>
            <a:r>
              <a:rPr lang="fr-FR" dirty="0" err="1"/>
              <a:t>Comedie</a:t>
            </a:r>
            <a:r>
              <a:rPr lang="fr-FR" dirty="0"/>
              <a:t> musicale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4"/>
          <p:cNvSpPr txBox="1">
            <a:spLocks noGrp="1"/>
          </p:cNvSpPr>
          <p:nvPr>
            <p:ph type="title"/>
          </p:nvPr>
        </p:nvSpPr>
        <p:spPr>
          <a:xfrm>
            <a:off x="311700" y="317976"/>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a:t>Conclusion</a:t>
            </a:r>
            <a:endParaRPr/>
          </a:p>
        </p:txBody>
      </p:sp>
      <p:sp>
        <p:nvSpPr>
          <p:cNvPr id="140" name="Google Shape;140;p24"/>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32</a:t>
            </a:fld>
            <a:endParaRPr/>
          </a:p>
        </p:txBody>
      </p:sp>
      <p:sp>
        <p:nvSpPr>
          <p:cNvPr id="2" name="Ellipse 1">
            <a:extLst>
              <a:ext uri="{FF2B5EF4-FFF2-40B4-BE49-F238E27FC236}">
                <a16:creationId xmlns:a16="http://schemas.microsoft.com/office/drawing/2014/main" id="{6DBC2B42-F65C-683F-B01A-AE36C6DCFC37}"/>
              </a:ext>
            </a:extLst>
          </p:cNvPr>
          <p:cNvSpPr/>
          <p:nvPr/>
        </p:nvSpPr>
        <p:spPr>
          <a:xfrm>
            <a:off x="0" y="4530000"/>
            <a:ext cx="1661160" cy="6135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1">
            <a:extLst>
              <a:ext uri="{FF2B5EF4-FFF2-40B4-BE49-F238E27FC236}">
                <a16:creationId xmlns:a16="http://schemas.microsoft.com/office/drawing/2014/main" id="{9BF71912-F204-CA00-EE77-646F8345F778}"/>
              </a:ext>
            </a:extLst>
          </p:cNvPr>
          <p:cNvSpPr>
            <a:spLocks noGrp="1" noChangeArrowheads="1"/>
          </p:cNvSpPr>
          <p:nvPr>
            <p:ph type="body" idx="1"/>
          </p:nvPr>
        </p:nvSpPr>
        <p:spPr bwMode="auto">
          <a:xfrm>
            <a:off x="233680" y="1556176"/>
            <a:ext cx="859917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fr-FR" altLang="fr-FR" sz="1800" b="1" i="0" u="none" strike="noStrike" cap="none" normalizeH="0" baseline="0" dirty="0">
                <a:ln>
                  <a:noFill/>
                </a:ln>
                <a:solidFill>
                  <a:schemeClr val="tx1"/>
                </a:solidFill>
                <a:effectLst/>
                <a:latin typeface="Arial" panose="020B0604020202020204" pitchFamily="34" charset="0"/>
              </a:rPr>
              <a:t>Identification des risques</a:t>
            </a:r>
            <a:r>
              <a:rPr kumimoji="0" lang="fr-FR" altLang="fr-FR" sz="1800" b="0" i="0" u="none" strike="noStrike" cap="none" normalizeH="0" baseline="0" dirty="0">
                <a:ln>
                  <a:noFill/>
                </a:ln>
                <a:solidFill>
                  <a:schemeClr val="tx1"/>
                </a:solidFill>
                <a:effectLst/>
                <a:latin typeface="Arial" panose="020B0604020202020204" pitchFamily="34" charset="0"/>
              </a:rPr>
              <a:t> :</a:t>
            </a:r>
            <a:br>
              <a:rPr kumimoji="0" lang="fr-FR" altLang="fr-FR" sz="1800" b="0" i="0" u="none" strike="noStrike" cap="none" normalizeH="0" baseline="0" dirty="0">
                <a:ln>
                  <a:noFill/>
                </a:ln>
                <a:solidFill>
                  <a:schemeClr val="tx1"/>
                </a:solidFill>
                <a:effectLst/>
                <a:latin typeface="Arial" panose="020B0604020202020204" pitchFamily="34" charset="0"/>
              </a:rPr>
            </a:br>
            <a:r>
              <a:rPr kumimoji="0" lang="fr-FR" altLang="fr-FR" sz="1800" b="0" i="0" u="none" strike="noStrike" cap="none" normalizeH="0" baseline="0" dirty="0">
                <a:ln>
                  <a:noFill/>
                </a:ln>
                <a:solidFill>
                  <a:schemeClr val="tx1"/>
                </a:solidFill>
                <a:effectLst/>
                <a:latin typeface="Arial" panose="020B0604020202020204" pitchFamily="34" charset="0"/>
              </a:rPr>
              <a:t>L’originalité de notre approche réside dans la reformulation opérationnelle de la notion de risque (événement potentiel → élément vulnérable → conséquences). Cette triade a servi de base pour la création des </a:t>
            </a:r>
            <a:r>
              <a:rPr kumimoji="0" lang="fr-FR" altLang="fr-FR" sz="1800" b="1" i="0" u="none" strike="noStrike" cap="none" normalizeH="0" baseline="0" dirty="0">
                <a:ln>
                  <a:noFill/>
                </a:ln>
                <a:solidFill>
                  <a:schemeClr val="tx1"/>
                </a:solidFill>
                <a:effectLst/>
                <a:latin typeface="Arial" panose="020B0604020202020204" pitchFamily="34" charset="0"/>
              </a:rPr>
              <a:t>prompts</a:t>
            </a:r>
            <a:r>
              <a:rPr kumimoji="0" lang="fr-FR" altLang="fr-FR" sz="1800" b="0" i="0" u="none" strike="noStrike" cap="none" normalizeH="0" baseline="0" dirty="0">
                <a:ln>
                  <a:noFill/>
                </a:ln>
                <a:solidFill>
                  <a:schemeClr val="tx1"/>
                </a:solidFill>
                <a:effectLst/>
                <a:latin typeface="Arial" panose="020B0604020202020204" pitchFamily="34" charset="0"/>
              </a:rPr>
              <a:t>, la validation des </a:t>
            </a:r>
            <a:r>
              <a:rPr kumimoji="0" lang="fr-FR" altLang="fr-FR" sz="1800" b="1" i="0" u="none" strike="noStrike" cap="none" normalizeH="0" baseline="0" dirty="0">
                <a:ln>
                  <a:noFill/>
                </a:ln>
                <a:solidFill>
                  <a:schemeClr val="tx1"/>
                </a:solidFill>
                <a:effectLst/>
                <a:latin typeface="Arial" panose="020B0604020202020204" pitchFamily="34" charset="0"/>
              </a:rPr>
              <a:t>cohérences</a:t>
            </a:r>
            <a:r>
              <a:rPr kumimoji="0" lang="fr-FR" altLang="fr-FR" sz="1800" b="0" i="0" u="none" strike="noStrike" cap="none" normalizeH="0" baseline="0" dirty="0">
                <a:ln>
                  <a:noFill/>
                </a:ln>
                <a:solidFill>
                  <a:schemeClr val="tx1"/>
                </a:solidFill>
                <a:effectLst/>
                <a:latin typeface="Arial" panose="020B0604020202020204" pitchFamily="34" charset="0"/>
              </a:rPr>
              <a:t> et le format</a:t>
            </a:r>
            <a:r>
              <a:rPr kumimoji="0" lang="fr-FR" altLang="fr-FR" sz="1800" b="1" i="0" u="none" strike="noStrike" cap="none" normalizeH="0" baseline="0" dirty="0">
                <a:ln>
                  <a:noFill/>
                </a:ln>
                <a:solidFill>
                  <a:schemeClr val="tx1"/>
                </a:solidFill>
                <a:effectLst/>
                <a:latin typeface="Arial" panose="020B0604020202020204" pitchFamily="34" charset="0"/>
              </a:rPr>
              <a:t> des sorties</a:t>
            </a:r>
            <a:r>
              <a:rPr kumimoji="0" lang="fr-FR" altLang="fr-FR" sz="1800" b="0" i="0" u="none" strike="noStrike" cap="none" normalizeH="0" baseline="0" dirty="0">
                <a:ln>
                  <a:noFill/>
                </a:ln>
                <a:solidFill>
                  <a:schemeClr val="tx1"/>
                </a:solidFill>
                <a:effectLst/>
                <a:latin typeface="Arial" panose="020B0604020202020204" pitchFamily="34" charset="0"/>
              </a:rPr>
              <a:t>. Dans le cas du </a:t>
            </a:r>
            <a:r>
              <a:rPr kumimoji="0" lang="fr-FR" altLang="fr-FR" sz="1800" b="1" i="0" u="none" strike="noStrike" cap="none" normalizeH="0" baseline="0" dirty="0">
                <a:ln>
                  <a:noFill/>
                </a:ln>
                <a:solidFill>
                  <a:schemeClr val="tx1"/>
                </a:solidFill>
                <a:effectLst/>
                <a:latin typeface="Arial" panose="020B0604020202020204" pitchFamily="34" charset="0"/>
              </a:rPr>
              <a:t>document CEA</a:t>
            </a:r>
            <a:r>
              <a:rPr kumimoji="0" lang="fr-FR" altLang="fr-FR" sz="1800" b="0" i="0" u="none" strike="noStrike" cap="none" normalizeH="0" baseline="0" dirty="0">
                <a:ln>
                  <a:noFill/>
                </a:ln>
                <a:solidFill>
                  <a:schemeClr val="tx1"/>
                </a:solidFill>
                <a:effectLst/>
                <a:latin typeface="Arial" panose="020B0604020202020204" pitchFamily="34" charset="0"/>
              </a:rPr>
              <a:t>, plus de la moitié des </a:t>
            </a:r>
            <a:r>
              <a:rPr kumimoji="0" lang="fr-FR" altLang="fr-FR" sz="1800" b="1" i="0" u="none" strike="noStrike" cap="none" normalizeH="0" baseline="0" dirty="0">
                <a:ln>
                  <a:noFill/>
                </a:ln>
                <a:solidFill>
                  <a:schemeClr val="tx1"/>
                </a:solidFill>
                <a:effectLst/>
                <a:latin typeface="Arial" panose="020B0604020202020204" pitchFamily="34" charset="0"/>
              </a:rPr>
              <a:t>propositions « nouvelles » générées par l'IA</a:t>
            </a:r>
            <a:r>
              <a:rPr kumimoji="0" lang="fr-FR" altLang="fr-FR" sz="1800" b="0" i="0" u="none" strike="noStrike" cap="none" normalizeH="0" baseline="0" dirty="0">
                <a:ln>
                  <a:noFill/>
                </a:ln>
                <a:solidFill>
                  <a:schemeClr val="tx1"/>
                </a:solidFill>
                <a:effectLst/>
                <a:latin typeface="Arial" panose="020B0604020202020204" pitchFamily="34" charset="0"/>
              </a:rPr>
              <a:t> ont été jugées pertinentes par les experts.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altLang="fr-FR"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37">
          <a:extLst>
            <a:ext uri="{FF2B5EF4-FFF2-40B4-BE49-F238E27FC236}">
              <a16:creationId xmlns:a16="http://schemas.microsoft.com/office/drawing/2014/main" id="{80F3F082-7C4B-711B-213C-814B3E58C0BB}"/>
            </a:ext>
          </a:extLst>
        </p:cNvPr>
        <p:cNvGrpSpPr/>
        <p:nvPr/>
      </p:nvGrpSpPr>
      <p:grpSpPr>
        <a:xfrm>
          <a:off x="0" y="0"/>
          <a:ext cx="0" cy="0"/>
          <a:chOff x="0" y="0"/>
          <a:chExt cx="0" cy="0"/>
        </a:xfrm>
      </p:grpSpPr>
      <p:sp>
        <p:nvSpPr>
          <p:cNvPr id="138" name="Google Shape;138;p24">
            <a:extLst>
              <a:ext uri="{FF2B5EF4-FFF2-40B4-BE49-F238E27FC236}">
                <a16:creationId xmlns:a16="http://schemas.microsoft.com/office/drawing/2014/main" id="{0D9C14B0-2939-B625-E3B7-47A604D9700A}"/>
              </a:ext>
            </a:extLst>
          </p:cNvPr>
          <p:cNvSpPr txBox="1">
            <a:spLocks noGrp="1"/>
          </p:cNvSpPr>
          <p:nvPr>
            <p:ph type="title"/>
          </p:nvPr>
        </p:nvSpPr>
        <p:spPr>
          <a:xfrm>
            <a:off x="311700" y="317976"/>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dirty="0"/>
              <a:t>Conclusion</a:t>
            </a:r>
            <a:endParaRPr dirty="0"/>
          </a:p>
        </p:txBody>
      </p:sp>
      <p:sp>
        <p:nvSpPr>
          <p:cNvPr id="140" name="Google Shape;140;p24">
            <a:extLst>
              <a:ext uri="{FF2B5EF4-FFF2-40B4-BE49-F238E27FC236}">
                <a16:creationId xmlns:a16="http://schemas.microsoft.com/office/drawing/2014/main" id="{F961DAEA-8E4A-382B-B33D-DD7E525E9713}"/>
              </a:ext>
            </a:extLst>
          </p:cNvPr>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33</a:t>
            </a:fld>
            <a:endParaRPr/>
          </a:p>
        </p:txBody>
      </p:sp>
      <p:sp>
        <p:nvSpPr>
          <p:cNvPr id="2" name="Ellipse 1">
            <a:extLst>
              <a:ext uri="{FF2B5EF4-FFF2-40B4-BE49-F238E27FC236}">
                <a16:creationId xmlns:a16="http://schemas.microsoft.com/office/drawing/2014/main" id="{0B508DE3-4EE9-2663-570F-D1AD1B187C88}"/>
              </a:ext>
            </a:extLst>
          </p:cNvPr>
          <p:cNvSpPr/>
          <p:nvPr/>
        </p:nvSpPr>
        <p:spPr>
          <a:xfrm>
            <a:off x="0" y="4530000"/>
            <a:ext cx="1661160" cy="6135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Espace réservé du texte 6">
            <a:extLst>
              <a:ext uri="{FF2B5EF4-FFF2-40B4-BE49-F238E27FC236}">
                <a16:creationId xmlns:a16="http://schemas.microsoft.com/office/drawing/2014/main" id="{3ACA0754-83EF-9A99-62A7-072C9070D6D8}"/>
              </a:ext>
            </a:extLst>
          </p:cNvPr>
          <p:cNvSpPr>
            <a:spLocks noGrp="1"/>
          </p:cNvSpPr>
          <p:nvPr>
            <p:ph type="body" idx="1"/>
          </p:nvPr>
        </p:nvSpPr>
        <p:spPr/>
        <p:txBody>
          <a:bodyPr>
            <a:normAutofit/>
          </a:bodyPr>
          <a:lstStyle/>
          <a:p>
            <a:pPr marL="0" lvl="0" indent="0" eaLnBrk="0" fontAlgn="base" hangingPunct="0">
              <a:lnSpc>
                <a:spcPct val="100000"/>
              </a:lnSpc>
              <a:spcBef>
                <a:spcPct val="0"/>
              </a:spcBef>
              <a:spcAft>
                <a:spcPct val="0"/>
              </a:spcAft>
              <a:buClrTx/>
              <a:buSzTx/>
              <a:buNone/>
            </a:pPr>
            <a:endParaRPr lang="fr-FR" altLang="fr-FR" sz="1600" b="1" dirty="0">
              <a:solidFill>
                <a:schemeClr val="tx1"/>
              </a:solidFill>
              <a:latin typeface="Arial" panose="020B0604020202020204" pitchFamily="34" charset="0"/>
            </a:endParaRPr>
          </a:p>
          <a:p>
            <a:pPr marL="0" lvl="0" indent="0" eaLnBrk="0" fontAlgn="base" hangingPunct="0">
              <a:lnSpc>
                <a:spcPct val="100000"/>
              </a:lnSpc>
              <a:spcBef>
                <a:spcPct val="0"/>
              </a:spcBef>
              <a:spcAft>
                <a:spcPct val="0"/>
              </a:spcAft>
              <a:buClrTx/>
              <a:buSzTx/>
              <a:buNone/>
            </a:pPr>
            <a:r>
              <a:rPr lang="fr-FR" altLang="fr-FR" sz="1600" b="1" dirty="0">
                <a:solidFill>
                  <a:schemeClr val="tx1"/>
                </a:solidFill>
                <a:latin typeface="Arial" panose="020B0604020202020204" pitchFamily="34" charset="0"/>
              </a:rPr>
              <a:t>Machine Learning et Lien entre Indicateurs et Actions</a:t>
            </a:r>
            <a:r>
              <a:rPr lang="fr-FR" altLang="fr-FR" sz="1600" dirty="0">
                <a:solidFill>
                  <a:schemeClr val="tx1"/>
                </a:solidFill>
                <a:latin typeface="Arial" panose="020B0604020202020204" pitchFamily="34" charset="0"/>
              </a:rPr>
              <a:t> :</a:t>
            </a:r>
            <a:br>
              <a:rPr lang="fr-FR" altLang="fr-FR" sz="1600" dirty="0">
                <a:solidFill>
                  <a:schemeClr val="tx1"/>
                </a:solidFill>
                <a:latin typeface="Arial" panose="020B0604020202020204" pitchFamily="34" charset="0"/>
              </a:rPr>
            </a:br>
            <a:r>
              <a:rPr lang="fr-FR" altLang="fr-FR" sz="1600" dirty="0">
                <a:solidFill>
                  <a:schemeClr val="tx1"/>
                </a:solidFill>
                <a:latin typeface="Arial" panose="020B0604020202020204" pitchFamily="34" charset="0"/>
              </a:rPr>
              <a:t>Malgré le nombre limité de données, le </a:t>
            </a:r>
            <a:r>
              <a:rPr lang="fr-FR" altLang="fr-FR" sz="1600" b="1" dirty="0">
                <a:solidFill>
                  <a:schemeClr val="tx1"/>
                </a:solidFill>
                <a:latin typeface="Arial" panose="020B0604020202020204" pitchFamily="34" charset="0"/>
              </a:rPr>
              <a:t>machine </a:t>
            </a:r>
            <a:r>
              <a:rPr lang="fr-FR" altLang="fr-FR" sz="1600" b="1" dirty="0" err="1">
                <a:solidFill>
                  <a:schemeClr val="tx1"/>
                </a:solidFill>
                <a:latin typeface="Arial" panose="020B0604020202020204" pitchFamily="34" charset="0"/>
              </a:rPr>
              <a:t>learning</a:t>
            </a:r>
            <a:r>
              <a:rPr lang="fr-FR" altLang="fr-FR" sz="1600" dirty="0">
                <a:solidFill>
                  <a:schemeClr val="tx1"/>
                </a:solidFill>
                <a:latin typeface="Arial" panose="020B0604020202020204" pitchFamily="34" charset="0"/>
              </a:rPr>
              <a:t> a réussi à établir un lien entre les </a:t>
            </a:r>
            <a:r>
              <a:rPr lang="fr-FR" altLang="fr-FR" sz="1600" b="1" dirty="0">
                <a:solidFill>
                  <a:schemeClr val="tx1"/>
                </a:solidFill>
                <a:latin typeface="Arial" panose="020B0604020202020204" pitchFamily="34" charset="0"/>
              </a:rPr>
              <a:t>indicateurs de réseau</a:t>
            </a:r>
            <a:r>
              <a:rPr lang="fr-FR" altLang="fr-FR" sz="1600" dirty="0">
                <a:solidFill>
                  <a:schemeClr val="tx1"/>
                </a:solidFill>
                <a:latin typeface="Arial" panose="020B0604020202020204" pitchFamily="34" charset="0"/>
              </a:rPr>
              <a:t> et les </a:t>
            </a:r>
            <a:r>
              <a:rPr lang="fr-FR" altLang="fr-FR" sz="1600" b="1" dirty="0">
                <a:solidFill>
                  <a:schemeClr val="tx1"/>
                </a:solidFill>
                <a:latin typeface="Arial" panose="020B0604020202020204" pitchFamily="34" charset="0"/>
              </a:rPr>
              <a:t>actions proposées</a:t>
            </a:r>
            <a:r>
              <a:rPr lang="fr-FR" altLang="fr-FR" sz="1600" dirty="0">
                <a:solidFill>
                  <a:schemeClr val="tx1"/>
                </a:solidFill>
                <a:latin typeface="Arial" panose="020B0604020202020204" pitchFamily="34" charset="0"/>
              </a:rPr>
              <a:t>, notamment pour le projet </a:t>
            </a:r>
            <a:r>
              <a:rPr lang="fr-FR" altLang="fr-FR" sz="1600" b="1" dirty="0">
                <a:solidFill>
                  <a:schemeClr val="tx1"/>
                </a:solidFill>
                <a:latin typeface="Arial" panose="020B0604020202020204" pitchFamily="34" charset="0"/>
              </a:rPr>
              <a:t>tramway</a:t>
            </a:r>
            <a:r>
              <a:rPr lang="fr-FR" altLang="fr-FR" sz="1600" dirty="0">
                <a:solidFill>
                  <a:schemeClr val="tx1"/>
                </a:solidFill>
                <a:latin typeface="Arial" panose="020B0604020202020204" pitchFamily="34" charset="0"/>
              </a:rPr>
              <a:t>.</a:t>
            </a:r>
          </a:p>
          <a:p>
            <a:pPr marL="0" lvl="0" indent="0" eaLnBrk="0" fontAlgn="base" hangingPunct="0">
              <a:lnSpc>
                <a:spcPct val="100000"/>
              </a:lnSpc>
              <a:spcBef>
                <a:spcPct val="0"/>
              </a:spcBef>
              <a:spcAft>
                <a:spcPct val="0"/>
              </a:spcAft>
              <a:buClrTx/>
              <a:buSzTx/>
              <a:buFontTx/>
              <a:buChar char="•"/>
            </a:pPr>
            <a:endParaRPr lang="fr-FR" altLang="fr-FR" sz="1600" dirty="0">
              <a:solidFill>
                <a:schemeClr val="tx1"/>
              </a:solidFill>
              <a:latin typeface="Arial" panose="020B0604020202020204" pitchFamily="34" charset="0"/>
            </a:endParaRPr>
          </a:p>
          <a:p>
            <a:pPr marL="0" lvl="0" indent="0" eaLnBrk="0" fontAlgn="base" hangingPunct="0">
              <a:lnSpc>
                <a:spcPct val="100000"/>
              </a:lnSpc>
              <a:spcBef>
                <a:spcPct val="0"/>
              </a:spcBef>
              <a:spcAft>
                <a:spcPct val="0"/>
              </a:spcAft>
              <a:buClrTx/>
              <a:buSzTx/>
              <a:buNone/>
            </a:pPr>
            <a:endParaRPr lang="fr-FR" altLang="fr-FR" sz="1600" dirty="0">
              <a:solidFill>
                <a:schemeClr val="tx1"/>
              </a:solidFill>
              <a:latin typeface="Arial" panose="020B0604020202020204" pitchFamily="34" charset="0"/>
            </a:endParaRPr>
          </a:p>
        </p:txBody>
      </p:sp>
    </p:spTree>
    <p:extLst>
      <p:ext uri="{BB962C8B-B14F-4D97-AF65-F5344CB8AC3E}">
        <p14:creationId xmlns:p14="http://schemas.microsoft.com/office/powerpoint/2010/main" val="34834272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37">
          <a:extLst>
            <a:ext uri="{FF2B5EF4-FFF2-40B4-BE49-F238E27FC236}">
              <a16:creationId xmlns:a16="http://schemas.microsoft.com/office/drawing/2014/main" id="{1AC34F90-F112-13AB-027D-32BC4B8F357E}"/>
            </a:ext>
          </a:extLst>
        </p:cNvPr>
        <p:cNvGrpSpPr/>
        <p:nvPr/>
      </p:nvGrpSpPr>
      <p:grpSpPr>
        <a:xfrm>
          <a:off x="0" y="0"/>
          <a:ext cx="0" cy="0"/>
          <a:chOff x="0" y="0"/>
          <a:chExt cx="0" cy="0"/>
        </a:xfrm>
      </p:grpSpPr>
      <p:sp>
        <p:nvSpPr>
          <p:cNvPr id="138" name="Google Shape;138;p24">
            <a:extLst>
              <a:ext uri="{FF2B5EF4-FFF2-40B4-BE49-F238E27FC236}">
                <a16:creationId xmlns:a16="http://schemas.microsoft.com/office/drawing/2014/main" id="{BD905594-65C0-B4D5-6842-2CB2BCB825D4}"/>
              </a:ext>
            </a:extLst>
          </p:cNvPr>
          <p:cNvSpPr txBox="1">
            <a:spLocks noGrp="1"/>
          </p:cNvSpPr>
          <p:nvPr>
            <p:ph type="title"/>
          </p:nvPr>
        </p:nvSpPr>
        <p:spPr>
          <a:xfrm>
            <a:off x="311700" y="317976"/>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dirty="0"/>
              <a:t>Conclusion</a:t>
            </a:r>
            <a:endParaRPr dirty="0"/>
          </a:p>
        </p:txBody>
      </p:sp>
      <p:sp>
        <p:nvSpPr>
          <p:cNvPr id="140" name="Google Shape;140;p24">
            <a:extLst>
              <a:ext uri="{FF2B5EF4-FFF2-40B4-BE49-F238E27FC236}">
                <a16:creationId xmlns:a16="http://schemas.microsoft.com/office/drawing/2014/main" id="{2CE4682F-7C03-36E6-539F-B78EC881512B}"/>
              </a:ext>
            </a:extLst>
          </p:cNvPr>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34</a:t>
            </a:fld>
            <a:endParaRPr/>
          </a:p>
        </p:txBody>
      </p:sp>
      <p:sp>
        <p:nvSpPr>
          <p:cNvPr id="2" name="Ellipse 1">
            <a:extLst>
              <a:ext uri="{FF2B5EF4-FFF2-40B4-BE49-F238E27FC236}">
                <a16:creationId xmlns:a16="http://schemas.microsoft.com/office/drawing/2014/main" id="{540D09D3-5598-2017-E6D7-A7535B15302F}"/>
              </a:ext>
            </a:extLst>
          </p:cNvPr>
          <p:cNvSpPr/>
          <p:nvPr/>
        </p:nvSpPr>
        <p:spPr>
          <a:xfrm>
            <a:off x="0" y="4530000"/>
            <a:ext cx="1661160" cy="6135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Espace réservé du texte 6">
            <a:extLst>
              <a:ext uri="{FF2B5EF4-FFF2-40B4-BE49-F238E27FC236}">
                <a16:creationId xmlns:a16="http://schemas.microsoft.com/office/drawing/2014/main" id="{D538C691-FAF8-1FE8-CB8D-9F969FDB0BBD}"/>
              </a:ext>
            </a:extLst>
          </p:cNvPr>
          <p:cNvSpPr>
            <a:spLocks noGrp="1"/>
          </p:cNvSpPr>
          <p:nvPr>
            <p:ph type="body" idx="1"/>
          </p:nvPr>
        </p:nvSpPr>
        <p:spPr/>
        <p:txBody>
          <a:bodyPr>
            <a:normAutofit/>
          </a:bodyPr>
          <a:lstStyle/>
          <a:p>
            <a:pPr marL="0" lvl="0" indent="0" eaLnBrk="0" fontAlgn="base" hangingPunct="0">
              <a:lnSpc>
                <a:spcPct val="100000"/>
              </a:lnSpc>
              <a:spcBef>
                <a:spcPct val="0"/>
              </a:spcBef>
              <a:spcAft>
                <a:spcPct val="0"/>
              </a:spcAft>
              <a:buClrTx/>
              <a:buSzTx/>
              <a:buNone/>
            </a:pPr>
            <a:endParaRPr lang="fr-FR" altLang="fr-FR" sz="1600" b="1" dirty="0">
              <a:solidFill>
                <a:schemeClr val="tx1"/>
              </a:solidFill>
              <a:latin typeface="Arial" panose="020B0604020202020204" pitchFamily="34" charset="0"/>
            </a:endParaRPr>
          </a:p>
          <a:p>
            <a:pPr marL="0" indent="0" eaLnBrk="0" fontAlgn="base" hangingPunct="0">
              <a:lnSpc>
                <a:spcPct val="100000"/>
              </a:lnSpc>
              <a:spcBef>
                <a:spcPct val="0"/>
              </a:spcBef>
              <a:spcAft>
                <a:spcPct val="0"/>
              </a:spcAft>
              <a:buClrTx/>
              <a:buSzTx/>
              <a:buNone/>
            </a:pPr>
            <a:r>
              <a:rPr lang="fr-FR" altLang="fr-FR" sz="1600" b="1" dirty="0">
                <a:solidFill>
                  <a:schemeClr val="tx1"/>
                </a:solidFill>
                <a:latin typeface="Arial" panose="020B0604020202020204" pitchFamily="34" charset="0"/>
              </a:rPr>
              <a:t>Problème de Généralisation</a:t>
            </a:r>
            <a:r>
              <a:rPr lang="fr-FR" altLang="fr-FR" sz="1600" dirty="0">
                <a:solidFill>
                  <a:schemeClr val="tx1"/>
                </a:solidFill>
                <a:latin typeface="Arial" panose="020B0604020202020204" pitchFamily="34" charset="0"/>
              </a:rPr>
              <a:t> :</a:t>
            </a:r>
            <a:br>
              <a:rPr lang="fr-FR" altLang="fr-FR" sz="1600" dirty="0">
                <a:solidFill>
                  <a:schemeClr val="tx1"/>
                </a:solidFill>
                <a:latin typeface="Arial" panose="020B0604020202020204" pitchFamily="34" charset="0"/>
              </a:rPr>
            </a:br>
            <a:r>
              <a:rPr lang="fr-FR" altLang="fr-FR" sz="1600" dirty="0">
                <a:solidFill>
                  <a:schemeClr val="tx1"/>
                </a:solidFill>
                <a:latin typeface="Arial" panose="020B0604020202020204" pitchFamily="34" charset="0"/>
              </a:rPr>
              <a:t>La généralisation du modèle soulève une question importante : les </a:t>
            </a:r>
            <a:r>
              <a:rPr lang="fr-FR" altLang="fr-FR" sz="1600" b="1" dirty="0">
                <a:solidFill>
                  <a:schemeClr val="tx1"/>
                </a:solidFill>
                <a:latin typeface="Arial" panose="020B0604020202020204" pitchFamily="34" charset="0"/>
              </a:rPr>
              <a:t>annotations</a:t>
            </a:r>
            <a:r>
              <a:rPr lang="fr-FR" altLang="fr-FR" sz="1600" dirty="0">
                <a:solidFill>
                  <a:schemeClr val="tx1"/>
                </a:solidFill>
                <a:latin typeface="Arial" panose="020B0604020202020204" pitchFamily="34" charset="0"/>
              </a:rPr>
              <a:t> utilisées pour l'entraînement ne sont pas des </a:t>
            </a:r>
            <a:r>
              <a:rPr lang="fr-FR" altLang="fr-FR" sz="1600" b="1" dirty="0">
                <a:solidFill>
                  <a:schemeClr val="tx1"/>
                </a:solidFill>
                <a:latin typeface="Arial" panose="020B0604020202020204" pitchFamily="34" charset="0"/>
              </a:rPr>
              <a:t>vérités générales</a:t>
            </a:r>
            <a:r>
              <a:rPr lang="fr-FR" altLang="fr-FR" sz="1600" dirty="0">
                <a:solidFill>
                  <a:schemeClr val="tx1"/>
                </a:solidFill>
                <a:latin typeface="Arial" panose="020B0604020202020204" pitchFamily="34" charset="0"/>
              </a:rPr>
              <a:t>, mais dépendent fortement du </a:t>
            </a:r>
            <a:r>
              <a:rPr lang="fr-FR" altLang="fr-FR" sz="1600" b="1" dirty="0">
                <a:solidFill>
                  <a:schemeClr val="tx1"/>
                </a:solidFill>
                <a:latin typeface="Arial" panose="020B0604020202020204" pitchFamily="34" charset="0"/>
              </a:rPr>
              <a:t>profil des experts</a:t>
            </a:r>
            <a:r>
              <a:rPr lang="fr-FR" altLang="fr-FR" sz="1600" dirty="0">
                <a:solidFill>
                  <a:schemeClr val="tx1"/>
                </a:solidFill>
                <a:latin typeface="Arial" panose="020B0604020202020204" pitchFamily="34" charset="0"/>
              </a:rPr>
              <a:t>, ce qui peut poser un problème lorsqu'on applique le modèle à </a:t>
            </a:r>
            <a:r>
              <a:rPr lang="fr-FR" altLang="fr-FR" sz="1600" b="1" dirty="0">
                <a:solidFill>
                  <a:schemeClr val="tx1"/>
                </a:solidFill>
                <a:latin typeface="Arial" panose="020B0604020202020204" pitchFamily="34" charset="0"/>
              </a:rPr>
              <a:t>d'autres types de risques</a:t>
            </a:r>
            <a:r>
              <a:rPr lang="fr-FR" altLang="fr-FR" sz="1600" dirty="0">
                <a:solidFill>
                  <a:schemeClr val="tx1"/>
                </a:solidFill>
                <a:latin typeface="Arial" panose="020B0604020202020204" pitchFamily="34" charset="0"/>
              </a:rPr>
              <a:t>.</a:t>
            </a:r>
          </a:p>
          <a:p>
            <a:pPr marL="0" lvl="0" indent="0" eaLnBrk="0" fontAlgn="base" hangingPunct="0">
              <a:lnSpc>
                <a:spcPct val="100000"/>
              </a:lnSpc>
              <a:spcBef>
                <a:spcPct val="0"/>
              </a:spcBef>
              <a:spcAft>
                <a:spcPct val="0"/>
              </a:spcAft>
              <a:buClrTx/>
              <a:buSzTx/>
              <a:buFontTx/>
              <a:buChar char="•"/>
            </a:pPr>
            <a:endParaRPr lang="fr-FR" altLang="fr-FR" sz="1600" dirty="0">
              <a:solidFill>
                <a:schemeClr val="tx1"/>
              </a:solidFill>
              <a:latin typeface="Arial" panose="020B0604020202020204" pitchFamily="34" charset="0"/>
            </a:endParaRPr>
          </a:p>
          <a:p>
            <a:pPr marL="0" lvl="0" indent="0" eaLnBrk="0" fontAlgn="base" hangingPunct="0">
              <a:lnSpc>
                <a:spcPct val="100000"/>
              </a:lnSpc>
              <a:spcBef>
                <a:spcPct val="0"/>
              </a:spcBef>
              <a:spcAft>
                <a:spcPct val="0"/>
              </a:spcAft>
              <a:buClrTx/>
              <a:buSzTx/>
              <a:buNone/>
            </a:pPr>
            <a:endParaRPr lang="fr-FR" altLang="fr-FR" sz="1600" dirty="0">
              <a:solidFill>
                <a:schemeClr val="tx1"/>
              </a:solidFill>
              <a:latin typeface="Arial" panose="020B0604020202020204" pitchFamily="34" charset="0"/>
            </a:endParaRPr>
          </a:p>
        </p:txBody>
      </p:sp>
    </p:spTree>
    <p:extLst>
      <p:ext uri="{BB962C8B-B14F-4D97-AF65-F5344CB8AC3E}">
        <p14:creationId xmlns:p14="http://schemas.microsoft.com/office/powerpoint/2010/main" val="18264347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37">
          <a:extLst>
            <a:ext uri="{FF2B5EF4-FFF2-40B4-BE49-F238E27FC236}">
              <a16:creationId xmlns:a16="http://schemas.microsoft.com/office/drawing/2014/main" id="{D81A35DD-290E-C03B-C4CE-06B029563D1A}"/>
            </a:ext>
          </a:extLst>
        </p:cNvPr>
        <p:cNvGrpSpPr/>
        <p:nvPr/>
      </p:nvGrpSpPr>
      <p:grpSpPr>
        <a:xfrm>
          <a:off x="0" y="0"/>
          <a:ext cx="0" cy="0"/>
          <a:chOff x="0" y="0"/>
          <a:chExt cx="0" cy="0"/>
        </a:xfrm>
      </p:grpSpPr>
      <p:sp>
        <p:nvSpPr>
          <p:cNvPr id="138" name="Google Shape;138;p24">
            <a:extLst>
              <a:ext uri="{FF2B5EF4-FFF2-40B4-BE49-F238E27FC236}">
                <a16:creationId xmlns:a16="http://schemas.microsoft.com/office/drawing/2014/main" id="{FEE7560D-78E0-DC10-7F9E-98D7AE949A97}"/>
              </a:ext>
            </a:extLst>
          </p:cNvPr>
          <p:cNvSpPr txBox="1">
            <a:spLocks noGrp="1"/>
          </p:cNvSpPr>
          <p:nvPr>
            <p:ph type="title"/>
          </p:nvPr>
        </p:nvSpPr>
        <p:spPr>
          <a:xfrm>
            <a:off x="311700" y="317976"/>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dirty="0"/>
              <a:t>Conclusion</a:t>
            </a:r>
            <a:endParaRPr dirty="0"/>
          </a:p>
        </p:txBody>
      </p:sp>
      <p:sp>
        <p:nvSpPr>
          <p:cNvPr id="140" name="Google Shape;140;p24">
            <a:extLst>
              <a:ext uri="{FF2B5EF4-FFF2-40B4-BE49-F238E27FC236}">
                <a16:creationId xmlns:a16="http://schemas.microsoft.com/office/drawing/2014/main" id="{7FBDB48B-9D92-AFF3-892A-B1C10CDF2DAF}"/>
              </a:ext>
            </a:extLst>
          </p:cNvPr>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35</a:t>
            </a:fld>
            <a:endParaRPr/>
          </a:p>
        </p:txBody>
      </p:sp>
      <p:sp>
        <p:nvSpPr>
          <p:cNvPr id="2" name="Ellipse 1">
            <a:extLst>
              <a:ext uri="{FF2B5EF4-FFF2-40B4-BE49-F238E27FC236}">
                <a16:creationId xmlns:a16="http://schemas.microsoft.com/office/drawing/2014/main" id="{5386E174-A44B-8875-C923-1A620B23E52F}"/>
              </a:ext>
            </a:extLst>
          </p:cNvPr>
          <p:cNvSpPr/>
          <p:nvPr/>
        </p:nvSpPr>
        <p:spPr>
          <a:xfrm>
            <a:off x="0" y="4530000"/>
            <a:ext cx="1661160" cy="6135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Espace réservé du texte 6">
            <a:extLst>
              <a:ext uri="{FF2B5EF4-FFF2-40B4-BE49-F238E27FC236}">
                <a16:creationId xmlns:a16="http://schemas.microsoft.com/office/drawing/2014/main" id="{AF530D2D-16A5-408F-F57D-CFB6CF34BB5A}"/>
              </a:ext>
            </a:extLst>
          </p:cNvPr>
          <p:cNvSpPr>
            <a:spLocks noGrp="1"/>
          </p:cNvSpPr>
          <p:nvPr>
            <p:ph type="body" idx="1"/>
          </p:nvPr>
        </p:nvSpPr>
        <p:spPr/>
        <p:txBody>
          <a:bodyPr>
            <a:normAutofit/>
          </a:bodyPr>
          <a:lstStyle/>
          <a:p>
            <a:pPr marL="0" lvl="0" indent="0" eaLnBrk="0" fontAlgn="base" hangingPunct="0">
              <a:lnSpc>
                <a:spcPct val="100000"/>
              </a:lnSpc>
              <a:spcBef>
                <a:spcPct val="0"/>
              </a:spcBef>
              <a:spcAft>
                <a:spcPct val="0"/>
              </a:spcAft>
              <a:buClrTx/>
              <a:buSzTx/>
              <a:buFontTx/>
              <a:buChar char="•"/>
            </a:pPr>
            <a:endParaRPr lang="fr-FR" altLang="fr-FR" sz="1600" b="1" dirty="0">
              <a:solidFill>
                <a:schemeClr val="tx1"/>
              </a:solidFill>
              <a:latin typeface="Arial" panose="020B0604020202020204" pitchFamily="34" charset="0"/>
            </a:endParaRPr>
          </a:p>
          <a:p>
            <a:pPr marL="0" lvl="0" indent="0" eaLnBrk="0" fontAlgn="base" hangingPunct="0">
              <a:lnSpc>
                <a:spcPct val="100000"/>
              </a:lnSpc>
              <a:spcBef>
                <a:spcPct val="0"/>
              </a:spcBef>
              <a:spcAft>
                <a:spcPct val="0"/>
              </a:spcAft>
              <a:buClrTx/>
              <a:buSzTx/>
              <a:buNone/>
            </a:pPr>
            <a:r>
              <a:rPr lang="fr-FR" altLang="fr-FR" sz="1600" b="1" dirty="0">
                <a:solidFill>
                  <a:schemeClr val="tx1"/>
                </a:solidFill>
                <a:latin typeface="Arial" panose="020B0604020202020204" pitchFamily="34" charset="0"/>
              </a:rPr>
              <a:t>Limites Statistiques des Projets</a:t>
            </a:r>
            <a:r>
              <a:rPr lang="fr-FR" altLang="fr-FR" sz="1600" dirty="0">
                <a:solidFill>
                  <a:schemeClr val="tx1"/>
                </a:solidFill>
                <a:latin typeface="Arial" panose="020B0604020202020204" pitchFamily="34" charset="0"/>
              </a:rPr>
              <a:t> :</a:t>
            </a:r>
            <a:br>
              <a:rPr lang="fr-FR" altLang="fr-FR" sz="1600" dirty="0">
                <a:solidFill>
                  <a:schemeClr val="tx1"/>
                </a:solidFill>
                <a:latin typeface="Arial" panose="020B0604020202020204" pitchFamily="34" charset="0"/>
              </a:rPr>
            </a:br>
            <a:r>
              <a:rPr lang="fr-FR" altLang="fr-FR" sz="1600" dirty="0">
                <a:solidFill>
                  <a:schemeClr val="tx1"/>
                </a:solidFill>
                <a:latin typeface="Arial" panose="020B0604020202020204" pitchFamily="34" charset="0"/>
              </a:rPr>
              <a:t>Les </a:t>
            </a:r>
            <a:r>
              <a:rPr lang="fr-FR" altLang="fr-FR" sz="1600" b="1" dirty="0">
                <a:solidFill>
                  <a:schemeClr val="tx1"/>
                </a:solidFill>
                <a:latin typeface="Arial" panose="020B0604020202020204" pitchFamily="34" charset="0"/>
              </a:rPr>
              <a:t>relations statistiques</a:t>
            </a:r>
            <a:r>
              <a:rPr lang="fr-FR" altLang="fr-FR" sz="1600" dirty="0">
                <a:solidFill>
                  <a:schemeClr val="tx1"/>
                </a:solidFill>
                <a:latin typeface="Arial" panose="020B0604020202020204" pitchFamily="34" charset="0"/>
              </a:rPr>
              <a:t> montrent que tous les projets ne peuvent pas être combinés pour l'apprentissage, car ils ne respectent pas les mêmes relations structurelles et statistiques. Cela affecte la performance globale du modèle.</a:t>
            </a:r>
          </a:p>
          <a:p>
            <a:pPr marL="0" lvl="0" indent="0" eaLnBrk="0" fontAlgn="base" hangingPunct="0">
              <a:lnSpc>
                <a:spcPct val="100000"/>
              </a:lnSpc>
              <a:spcBef>
                <a:spcPct val="0"/>
              </a:spcBef>
              <a:spcAft>
                <a:spcPct val="0"/>
              </a:spcAft>
              <a:buClrTx/>
              <a:buSzTx/>
              <a:buFontTx/>
              <a:buChar char="•"/>
            </a:pPr>
            <a:endParaRPr lang="fr-FR" dirty="0"/>
          </a:p>
        </p:txBody>
      </p:sp>
    </p:spTree>
    <p:extLst>
      <p:ext uri="{BB962C8B-B14F-4D97-AF65-F5344CB8AC3E}">
        <p14:creationId xmlns:p14="http://schemas.microsoft.com/office/powerpoint/2010/main" val="27403933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37">
          <a:extLst>
            <a:ext uri="{FF2B5EF4-FFF2-40B4-BE49-F238E27FC236}">
              <a16:creationId xmlns:a16="http://schemas.microsoft.com/office/drawing/2014/main" id="{236343A7-E23A-B4DF-8B5E-6509FA3A4D70}"/>
            </a:ext>
          </a:extLst>
        </p:cNvPr>
        <p:cNvGrpSpPr/>
        <p:nvPr/>
      </p:nvGrpSpPr>
      <p:grpSpPr>
        <a:xfrm>
          <a:off x="0" y="0"/>
          <a:ext cx="0" cy="0"/>
          <a:chOff x="0" y="0"/>
          <a:chExt cx="0" cy="0"/>
        </a:xfrm>
      </p:grpSpPr>
      <p:sp>
        <p:nvSpPr>
          <p:cNvPr id="138" name="Google Shape;138;p24">
            <a:extLst>
              <a:ext uri="{FF2B5EF4-FFF2-40B4-BE49-F238E27FC236}">
                <a16:creationId xmlns:a16="http://schemas.microsoft.com/office/drawing/2014/main" id="{1E10B73B-D52A-BB12-6777-47BF156009A7}"/>
              </a:ext>
            </a:extLst>
          </p:cNvPr>
          <p:cNvSpPr txBox="1">
            <a:spLocks noGrp="1"/>
          </p:cNvSpPr>
          <p:nvPr>
            <p:ph type="title"/>
          </p:nvPr>
        </p:nvSpPr>
        <p:spPr>
          <a:xfrm>
            <a:off x="311700" y="317976"/>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dirty="0"/>
              <a:t>Conclusion</a:t>
            </a:r>
            <a:endParaRPr dirty="0"/>
          </a:p>
        </p:txBody>
      </p:sp>
      <p:sp>
        <p:nvSpPr>
          <p:cNvPr id="140" name="Google Shape;140;p24">
            <a:extLst>
              <a:ext uri="{FF2B5EF4-FFF2-40B4-BE49-F238E27FC236}">
                <a16:creationId xmlns:a16="http://schemas.microsoft.com/office/drawing/2014/main" id="{4BF96D79-3F5B-5BA9-070A-D1527988A71B}"/>
              </a:ext>
            </a:extLst>
          </p:cNvPr>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36</a:t>
            </a:fld>
            <a:endParaRPr/>
          </a:p>
        </p:txBody>
      </p:sp>
      <p:sp>
        <p:nvSpPr>
          <p:cNvPr id="2" name="Ellipse 1">
            <a:extLst>
              <a:ext uri="{FF2B5EF4-FFF2-40B4-BE49-F238E27FC236}">
                <a16:creationId xmlns:a16="http://schemas.microsoft.com/office/drawing/2014/main" id="{E0E8AD11-77E1-2D91-DADF-9F2540AF180A}"/>
              </a:ext>
            </a:extLst>
          </p:cNvPr>
          <p:cNvSpPr/>
          <p:nvPr/>
        </p:nvSpPr>
        <p:spPr>
          <a:xfrm>
            <a:off x="0" y="4530000"/>
            <a:ext cx="1661160" cy="6135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Espace réservé du texte 6">
            <a:extLst>
              <a:ext uri="{FF2B5EF4-FFF2-40B4-BE49-F238E27FC236}">
                <a16:creationId xmlns:a16="http://schemas.microsoft.com/office/drawing/2014/main" id="{7AA5EF31-5B2D-F485-0A26-72346BEF71F5}"/>
              </a:ext>
            </a:extLst>
          </p:cNvPr>
          <p:cNvSpPr>
            <a:spLocks noGrp="1"/>
          </p:cNvSpPr>
          <p:nvPr>
            <p:ph type="body" idx="1"/>
          </p:nvPr>
        </p:nvSpPr>
        <p:spPr/>
        <p:txBody>
          <a:bodyPr>
            <a:normAutofit/>
          </a:bodyPr>
          <a:lstStyle/>
          <a:p>
            <a:pPr marL="0" indent="0" eaLnBrk="0" fontAlgn="base" hangingPunct="0">
              <a:lnSpc>
                <a:spcPct val="100000"/>
              </a:lnSpc>
              <a:spcBef>
                <a:spcPct val="0"/>
              </a:spcBef>
              <a:spcAft>
                <a:spcPct val="0"/>
              </a:spcAft>
              <a:buClrTx/>
              <a:buSzTx/>
              <a:buFontTx/>
              <a:buChar char="•"/>
            </a:pPr>
            <a:endParaRPr lang="fr-FR" altLang="fr-FR" sz="1600" b="1" dirty="0">
              <a:solidFill>
                <a:schemeClr val="tx1"/>
              </a:solidFill>
              <a:latin typeface="Arial" panose="020B0604020202020204" pitchFamily="34" charset="0"/>
            </a:endParaRPr>
          </a:p>
          <a:p>
            <a:pPr marL="0" indent="0" eaLnBrk="0" fontAlgn="base" hangingPunct="0">
              <a:lnSpc>
                <a:spcPct val="100000"/>
              </a:lnSpc>
              <a:spcBef>
                <a:spcPct val="0"/>
              </a:spcBef>
              <a:spcAft>
                <a:spcPct val="0"/>
              </a:spcAft>
              <a:buClrTx/>
              <a:buSzTx/>
              <a:buFontTx/>
              <a:buChar char="•"/>
            </a:pPr>
            <a:endParaRPr lang="fr-FR" altLang="fr-FR" sz="1600" b="1" dirty="0">
              <a:solidFill>
                <a:schemeClr val="tx1"/>
              </a:solidFill>
              <a:latin typeface="Arial" panose="020B0604020202020204" pitchFamily="34" charset="0"/>
            </a:endParaRPr>
          </a:p>
          <a:p>
            <a:pPr marL="0" indent="0" eaLnBrk="0" fontAlgn="base" hangingPunct="0">
              <a:lnSpc>
                <a:spcPct val="100000"/>
              </a:lnSpc>
              <a:spcBef>
                <a:spcPct val="0"/>
              </a:spcBef>
              <a:spcAft>
                <a:spcPct val="0"/>
              </a:spcAft>
              <a:buClrTx/>
              <a:buSzTx/>
              <a:buNone/>
            </a:pPr>
            <a:r>
              <a:rPr lang="fr-FR" altLang="fr-FR" sz="1600" b="1" dirty="0">
                <a:solidFill>
                  <a:schemeClr val="tx1"/>
                </a:solidFill>
                <a:latin typeface="Arial" panose="020B0604020202020204" pitchFamily="34" charset="0"/>
              </a:rPr>
              <a:t>Biais dans l'Annotation</a:t>
            </a:r>
            <a:r>
              <a:rPr lang="fr-FR" altLang="fr-FR" sz="1600" dirty="0">
                <a:solidFill>
                  <a:schemeClr val="tx1"/>
                </a:solidFill>
                <a:latin typeface="Arial" panose="020B0604020202020204" pitchFamily="34" charset="0"/>
              </a:rPr>
              <a:t> :</a:t>
            </a:r>
            <a:br>
              <a:rPr lang="fr-FR" altLang="fr-FR" sz="1600" dirty="0">
                <a:solidFill>
                  <a:schemeClr val="tx1"/>
                </a:solidFill>
                <a:latin typeface="Arial" panose="020B0604020202020204" pitchFamily="34" charset="0"/>
              </a:rPr>
            </a:br>
            <a:r>
              <a:rPr lang="fr-FR" altLang="fr-FR" sz="1600" dirty="0">
                <a:solidFill>
                  <a:schemeClr val="tx1"/>
                </a:solidFill>
                <a:latin typeface="Arial" panose="020B0604020202020204" pitchFamily="34" charset="0"/>
              </a:rPr>
              <a:t>Un biais  dans l'annotation a été constaté, car </a:t>
            </a:r>
            <a:r>
              <a:rPr lang="fr-FR" altLang="fr-FR" sz="1600" b="1" dirty="0">
                <a:solidFill>
                  <a:schemeClr val="tx1"/>
                </a:solidFill>
                <a:latin typeface="Arial" panose="020B0604020202020204" pitchFamily="34" charset="0"/>
              </a:rPr>
              <a:t>presque toutes les annotations</a:t>
            </a:r>
            <a:r>
              <a:rPr lang="fr-FR" altLang="fr-FR" sz="1600" dirty="0">
                <a:solidFill>
                  <a:schemeClr val="tx1"/>
                </a:solidFill>
                <a:latin typeface="Arial" panose="020B0604020202020204" pitchFamily="34" charset="0"/>
              </a:rPr>
              <a:t> ont été basées sur </a:t>
            </a:r>
            <a:r>
              <a:rPr lang="fr-FR" altLang="fr-FR" sz="1600" b="1" dirty="0">
                <a:solidFill>
                  <a:schemeClr val="tx1"/>
                </a:solidFill>
                <a:latin typeface="Arial" panose="020B0604020202020204" pitchFamily="34" charset="0"/>
              </a:rPr>
              <a:t>probabilité</a:t>
            </a:r>
            <a:r>
              <a:rPr lang="fr-FR" altLang="fr-FR" sz="1600" dirty="0">
                <a:solidFill>
                  <a:schemeClr val="tx1"/>
                </a:solidFill>
                <a:latin typeface="Arial" panose="020B0604020202020204" pitchFamily="34" charset="0"/>
              </a:rPr>
              <a:t> et </a:t>
            </a:r>
            <a:r>
              <a:rPr lang="fr-FR" altLang="fr-FR" sz="1600" b="1" dirty="0">
                <a:solidFill>
                  <a:schemeClr val="tx1"/>
                </a:solidFill>
                <a:latin typeface="Arial" panose="020B0604020202020204" pitchFamily="34" charset="0"/>
              </a:rPr>
              <a:t>gravité</a:t>
            </a:r>
            <a:r>
              <a:rPr lang="fr-FR" altLang="fr-FR" sz="1600" dirty="0">
                <a:solidFill>
                  <a:schemeClr val="tx1"/>
                </a:solidFill>
                <a:latin typeface="Arial" panose="020B0604020202020204" pitchFamily="34" charset="0"/>
              </a:rPr>
              <a:t>, ce qui a limité l'impact des autres indicateurs, notamment les propriétés topologiques du réseau</a:t>
            </a:r>
          </a:p>
          <a:p>
            <a:pPr marL="0" lvl="0" indent="0" eaLnBrk="0" fontAlgn="base" hangingPunct="0">
              <a:lnSpc>
                <a:spcPct val="100000"/>
              </a:lnSpc>
              <a:spcBef>
                <a:spcPct val="0"/>
              </a:spcBef>
              <a:spcAft>
                <a:spcPct val="0"/>
              </a:spcAft>
              <a:buClrTx/>
              <a:buSzTx/>
              <a:buFontTx/>
              <a:buChar char="•"/>
            </a:pPr>
            <a:endParaRPr lang="fr-FR" dirty="0"/>
          </a:p>
        </p:txBody>
      </p:sp>
    </p:spTree>
    <p:extLst>
      <p:ext uri="{BB962C8B-B14F-4D97-AF65-F5344CB8AC3E}">
        <p14:creationId xmlns:p14="http://schemas.microsoft.com/office/powerpoint/2010/main" val="13098144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37">
          <a:extLst>
            <a:ext uri="{FF2B5EF4-FFF2-40B4-BE49-F238E27FC236}">
              <a16:creationId xmlns:a16="http://schemas.microsoft.com/office/drawing/2014/main" id="{0EF63DC9-858B-ACC3-38AC-16F6D113C4F2}"/>
            </a:ext>
          </a:extLst>
        </p:cNvPr>
        <p:cNvGrpSpPr/>
        <p:nvPr/>
      </p:nvGrpSpPr>
      <p:grpSpPr>
        <a:xfrm>
          <a:off x="0" y="0"/>
          <a:ext cx="0" cy="0"/>
          <a:chOff x="0" y="0"/>
          <a:chExt cx="0" cy="0"/>
        </a:xfrm>
      </p:grpSpPr>
      <p:sp>
        <p:nvSpPr>
          <p:cNvPr id="138" name="Google Shape;138;p24">
            <a:extLst>
              <a:ext uri="{FF2B5EF4-FFF2-40B4-BE49-F238E27FC236}">
                <a16:creationId xmlns:a16="http://schemas.microsoft.com/office/drawing/2014/main" id="{7219CD2B-C09D-C81B-3354-B43D93DE1114}"/>
              </a:ext>
            </a:extLst>
          </p:cNvPr>
          <p:cNvSpPr txBox="1">
            <a:spLocks noGrp="1"/>
          </p:cNvSpPr>
          <p:nvPr>
            <p:ph type="title"/>
          </p:nvPr>
        </p:nvSpPr>
        <p:spPr>
          <a:xfrm>
            <a:off x="311700" y="317976"/>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dirty="0"/>
              <a:t>Perspective</a:t>
            </a:r>
            <a:endParaRPr dirty="0"/>
          </a:p>
        </p:txBody>
      </p:sp>
      <p:sp>
        <p:nvSpPr>
          <p:cNvPr id="140" name="Google Shape;140;p24">
            <a:extLst>
              <a:ext uri="{FF2B5EF4-FFF2-40B4-BE49-F238E27FC236}">
                <a16:creationId xmlns:a16="http://schemas.microsoft.com/office/drawing/2014/main" id="{C15645B5-74E4-F889-EE01-9D6F682857C1}"/>
              </a:ext>
            </a:extLst>
          </p:cNvPr>
          <p:cNvSpPr txBox="1">
            <a:spLocks noGrp="1"/>
          </p:cNvSpPr>
          <p:nvPr>
            <p:ph type="sldNum" idx="12"/>
          </p:nvPr>
        </p:nvSpPr>
        <p:spPr>
          <a:xfrm>
            <a:off x="8515708" y="4749892"/>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GB"/>
              <a:t>37</a:t>
            </a:fld>
            <a:endParaRPr/>
          </a:p>
        </p:txBody>
      </p:sp>
      <p:sp>
        <p:nvSpPr>
          <p:cNvPr id="2" name="Ellipse 1">
            <a:extLst>
              <a:ext uri="{FF2B5EF4-FFF2-40B4-BE49-F238E27FC236}">
                <a16:creationId xmlns:a16="http://schemas.microsoft.com/office/drawing/2014/main" id="{397D3867-67FB-5BF6-CE9C-2FE8BFBCA233}"/>
              </a:ext>
            </a:extLst>
          </p:cNvPr>
          <p:cNvSpPr/>
          <p:nvPr/>
        </p:nvSpPr>
        <p:spPr>
          <a:xfrm>
            <a:off x="0" y="4530000"/>
            <a:ext cx="1661160" cy="6135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Espace réservé du texte 6">
            <a:extLst>
              <a:ext uri="{FF2B5EF4-FFF2-40B4-BE49-F238E27FC236}">
                <a16:creationId xmlns:a16="http://schemas.microsoft.com/office/drawing/2014/main" id="{E3020A84-8138-A1BC-C3F2-B42E6D777C9A}"/>
              </a:ext>
            </a:extLst>
          </p:cNvPr>
          <p:cNvSpPr>
            <a:spLocks noGrp="1"/>
          </p:cNvSpPr>
          <p:nvPr>
            <p:ph type="body" idx="1"/>
          </p:nvPr>
        </p:nvSpPr>
        <p:spPr/>
        <p:txBody>
          <a:bodyPr>
            <a:normAutofit/>
          </a:bodyPr>
          <a:lstStyle/>
          <a:p>
            <a:pPr marL="0" indent="0" eaLnBrk="0" fontAlgn="base" hangingPunct="0">
              <a:lnSpc>
                <a:spcPct val="100000"/>
              </a:lnSpc>
              <a:spcBef>
                <a:spcPct val="0"/>
              </a:spcBef>
              <a:spcAft>
                <a:spcPct val="0"/>
              </a:spcAft>
              <a:buClrTx/>
              <a:buSzTx/>
              <a:buFontTx/>
              <a:buChar char="•"/>
            </a:pPr>
            <a:endParaRPr lang="fr-FR" altLang="fr-FR" sz="1600" b="1" dirty="0">
              <a:solidFill>
                <a:schemeClr val="tx1"/>
              </a:solidFill>
              <a:latin typeface="Arial" panose="020B0604020202020204" pitchFamily="34" charset="0"/>
            </a:endParaRPr>
          </a:p>
          <a:p>
            <a:pPr marL="0" indent="0" eaLnBrk="0" fontAlgn="base" hangingPunct="0">
              <a:lnSpc>
                <a:spcPct val="100000"/>
              </a:lnSpc>
              <a:spcBef>
                <a:spcPct val="0"/>
              </a:spcBef>
              <a:spcAft>
                <a:spcPct val="0"/>
              </a:spcAft>
              <a:buClrTx/>
              <a:buSzTx/>
              <a:buFontTx/>
              <a:buChar char="•"/>
            </a:pPr>
            <a:endParaRPr lang="fr-FR" altLang="fr-FR" sz="1600" b="1" dirty="0">
              <a:solidFill>
                <a:schemeClr val="tx1"/>
              </a:solidFill>
              <a:latin typeface="Arial" panose="020B0604020202020204" pitchFamily="34" charset="0"/>
            </a:endParaRPr>
          </a:p>
          <a:p>
            <a:pPr marL="0" indent="0" eaLnBrk="0" fontAlgn="base" hangingPunct="0">
              <a:lnSpc>
                <a:spcPct val="100000"/>
              </a:lnSpc>
              <a:spcBef>
                <a:spcPct val="0"/>
              </a:spcBef>
              <a:spcAft>
                <a:spcPct val="0"/>
              </a:spcAft>
              <a:buClrTx/>
              <a:buSzTx/>
              <a:buNone/>
            </a:pPr>
            <a:r>
              <a:rPr lang="fr-FR" altLang="fr-FR" sz="1600" b="1" dirty="0">
                <a:solidFill>
                  <a:schemeClr val="tx1"/>
                </a:solidFill>
                <a:latin typeface="Arial" panose="020B0604020202020204" pitchFamily="34" charset="0"/>
              </a:rPr>
              <a:t>Biais dans l'Annotation</a:t>
            </a:r>
            <a:r>
              <a:rPr lang="fr-FR" altLang="fr-FR" sz="1600" dirty="0">
                <a:solidFill>
                  <a:schemeClr val="tx1"/>
                </a:solidFill>
                <a:latin typeface="Arial" panose="020B0604020202020204" pitchFamily="34" charset="0"/>
              </a:rPr>
              <a:t> :</a:t>
            </a:r>
            <a:br>
              <a:rPr lang="fr-FR" altLang="fr-FR" sz="1600" dirty="0">
                <a:solidFill>
                  <a:schemeClr val="tx1"/>
                </a:solidFill>
                <a:latin typeface="Arial" panose="020B0604020202020204" pitchFamily="34" charset="0"/>
              </a:rPr>
            </a:br>
            <a:r>
              <a:rPr lang="fr-FR" altLang="fr-FR" sz="1600" dirty="0">
                <a:solidFill>
                  <a:schemeClr val="tx1"/>
                </a:solidFill>
                <a:latin typeface="Arial" panose="020B0604020202020204" pitchFamily="34" charset="0"/>
              </a:rPr>
              <a:t>Un biais  dans l'annotation a été constaté, car </a:t>
            </a:r>
            <a:r>
              <a:rPr lang="fr-FR" altLang="fr-FR" sz="1600" b="1" dirty="0">
                <a:solidFill>
                  <a:schemeClr val="tx1"/>
                </a:solidFill>
                <a:latin typeface="Arial" panose="020B0604020202020204" pitchFamily="34" charset="0"/>
              </a:rPr>
              <a:t>presque toutes les annotations</a:t>
            </a:r>
            <a:r>
              <a:rPr lang="fr-FR" altLang="fr-FR" sz="1600" dirty="0">
                <a:solidFill>
                  <a:schemeClr val="tx1"/>
                </a:solidFill>
                <a:latin typeface="Arial" panose="020B0604020202020204" pitchFamily="34" charset="0"/>
              </a:rPr>
              <a:t> ont été basées sur </a:t>
            </a:r>
            <a:r>
              <a:rPr lang="fr-FR" altLang="fr-FR" sz="1600" b="1" dirty="0">
                <a:solidFill>
                  <a:schemeClr val="tx1"/>
                </a:solidFill>
                <a:latin typeface="Arial" panose="020B0604020202020204" pitchFamily="34" charset="0"/>
              </a:rPr>
              <a:t>probabilité</a:t>
            </a:r>
            <a:r>
              <a:rPr lang="fr-FR" altLang="fr-FR" sz="1600" dirty="0">
                <a:solidFill>
                  <a:schemeClr val="tx1"/>
                </a:solidFill>
                <a:latin typeface="Arial" panose="020B0604020202020204" pitchFamily="34" charset="0"/>
              </a:rPr>
              <a:t> et </a:t>
            </a:r>
            <a:r>
              <a:rPr lang="fr-FR" altLang="fr-FR" sz="1600" b="1" dirty="0">
                <a:solidFill>
                  <a:schemeClr val="tx1"/>
                </a:solidFill>
                <a:latin typeface="Arial" panose="020B0604020202020204" pitchFamily="34" charset="0"/>
              </a:rPr>
              <a:t>gravité</a:t>
            </a:r>
            <a:r>
              <a:rPr lang="fr-FR" altLang="fr-FR" sz="1600" dirty="0">
                <a:solidFill>
                  <a:schemeClr val="tx1"/>
                </a:solidFill>
                <a:latin typeface="Arial" panose="020B0604020202020204" pitchFamily="34" charset="0"/>
              </a:rPr>
              <a:t>, ce qui a limité l'impact des autres indicateurs, notamment les propriétés topologiques du réseau</a:t>
            </a:r>
          </a:p>
          <a:p>
            <a:pPr marL="0" lvl="0" indent="0" eaLnBrk="0" fontAlgn="base" hangingPunct="0">
              <a:lnSpc>
                <a:spcPct val="100000"/>
              </a:lnSpc>
              <a:spcBef>
                <a:spcPct val="0"/>
              </a:spcBef>
              <a:spcAft>
                <a:spcPct val="0"/>
              </a:spcAft>
              <a:buClrTx/>
              <a:buSzTx/>
              <a:buFontTx/>
              <a:buChar char="•"/>
            </a:pPr>
            <a:endParaRPr lang="fr-FR" dirty="0"/>
          </a:p>
        </p:txBody>
      </p:sp>
    </p:spTree>
    <p:extLst>
      <p:ext uri="{BB962C8B-B14F-4D97-AF65-F5344CB8AC3E}">
        <p14:creationId xmlns:p14="http://schemas.microsoft.com/office/powerpoint/2010/main" val="3131582751"/>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1794</Words>
  <Application>Microsoft Office PowerPoint</Application>
  <PresentationFormat>Affichage à l'écran (16:9)</PresentationFormat>
  <Paragraphs>178</Paragraphs>
  <Slides>37</Slides>
  <Notes>30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37</vt:i4>
      </vt:variant>
    </vt:vector>
  </HeadingPairs>
  <TitlesOfParts>
    <vt:vector size="41" baseType="lpstr">
      <vt:lpstr>Arial</vt:lpstr>
      <vt:lpstr>Georgia</vt:lpstr>
      <vt:lpstr>Inter</vt:lpstr>
      <vt:lpstr>Simple Light</vt:lpstr>
      <vt:lpstr>INTELLIGENCE ARTIFICIELLE COMME LÉVIER POUR LA GESTION DU RISQUE</vt:lpstr>
      <vt:lpstr>Introduction : La gestion de risque</vt:lpstr>
      <vt:lpstr>Introduction</vt:lpstr>
      <vt:lpstr>Introduction</vt:lpstr>
      <vt:lpstr>Introduction</vt:lpstr>
      <vt:lpstr>Introduction</vt:lpstr>
      <vt:lpstr>Introduction</vt:lpstr>
      <vt:lpstr>Limites des approches traditionnelles de gestion des risques : Identification des risques </vt:lpstr>
      <vt:lpstr>Limites des approches traditionnelles de gestion des risques : Identification des risques </vt:lpstr>
      <vt:lpstr>Limites des approches traditionnelles de gestion des risques :Recommandation d’actions</vt:lpstr>
      <vt:lpstr>Méthode</vt:lpstr>
      <vt:lpstr>Implementation: Identification des risques </vt:lpstr>
      <vt:lpstr>Implementation: Identification des risques  </vt:lpstr>
      <vt:lpstr>Implementation : Recommendation actions</vt:lpstr>
      <vt:lpstr>Implementation : Recommendation actions</vt:lpstr>
      <vt:lpstr>Expérimentation: Identification des risques </vt:lpstr>
      <vt:lpstr>Expérimentation: Recommandation d’actions</vt:lpstr>
      <vt:lpstr>Expérimentation: Recommandation d’actions</vt:lpstr>
      <vt:lpstr>Expérimentation: Recommandation d’actions</vt:lpstr>
      <vt:lpstr>Expérimentation: Recommandation d’actions</vt:lpstr>
      <vt:lpstr>Expérimentation: Recommandation d’actions</vt:lpstr>
      <vt:lpstr>Expérimentation: Recommandation d’actions</vt:lpstr>
      <vt:lpstr>Expérimentation: Recommandation d’actions</vt:lpstr>
      <vt:lpstr>Expérimentation: Recommandation d’actions</vt:lpstr>
      <vt:lpstr>Expérimentation: Recommandation d’actions</vt:lpstr>
      <vt:lpstr>Expérimentation: Recommandation d’actions</vt:lpstr>
      <vt:lpstr>Expérimentation: Recommandation d’actions</vt:lpstr>
      <vt:lpstr>Résultats et analyse : Identifications des risques</vt:lpstr>
      <vt:lpstr>Résultats  : Recommandation d’actions</vt:lpstr>
      <vt:lpstr>Résultats : Recommandation d’actions</vt:lpstr>
      <vt:lpstr>Résultats  : Recommandation d’actions</vt:lpstr>
      <vt:lpstr>Conclusion</vt:lpstr>
      <vt:lpstr>Conclusion</vt:lpstr>
      <vt:lpstr>Conclusion</vt:lpstr>
      <vt:lpstr>Conclusion</vt:lpstr>
      <vt:lpstr>Conclusion</vt:lpstr>
      <vt:lpstr>Perspective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arlette yao</dc:creator>
  <cp:lastModifiedBy>Beugre Niamba</cp:lastModifiedBy>
  <cp:revision>6</cp:revision>
  <dcterms:modified xsi:type="dcterms:W3CDTF">2025-09-26T06:06:37Z</dcterms:modified>
</cp:coreProperties>
</file>